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Focal PIB@10μm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PIB@10μm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Vacuum</c:v>
                  </c:pt>
                  <c:pt idx="1">
                    <c:v>Turbulent</c:v>
                  </c:pt>
                  <c:pt idx="2">
                    <c:v>AbsBkt+CO</c:v>
                  </c:pt>
                  <c:pt idx="3">
                    <c:v>PIB+HardTP</c:v>
                  </c:pt>
                  <c:pt idx="4">
                    <c:v>TP-PIB
w=0.5</c:v>
                  </c:pt>
                  <c:pt idx="5">
                    <c:v>TP-PIB
w=2.0</c:v>
                  </c:pt>
                  <c:pt idx="6">
                    <c:v>Raw RP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95.98</c:v>
                </c:pt>
                <c:pt idx="1">
                  <c:v>77.11</c:v>
                </c:pt>
                <c:pt idx="2">
                  <c:v>80.52</c:v>
                </c:pt>
                <c:pt idx="3">
                  <c:v>80.42</c:v>
                </c:pt>
                <c:pt idx="4">
                  <c:v>81.32</c:v>
                </c:pt>
                <c:pt idx="5">
                  <c:v>80.41</c:v>
                </c:pt>
                <c:pt idx="6">
                  <c:v>80.83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Throughput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(%)</c:v>
                </c:pt>
              </c:strCache>
            </c:strRef>
          </c:tx>
          <c:spPr>
            <a:solidFill>
              <a:srgbClr val="21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Vacuum</c:v>
                  </c:pt>
                  <c:pt idx="1">
                    <c:v>Turbulent</c:v>
                  </c:pt>
                  <c:pt idx="2">
                    <c:v>AbsBkt+CO</c:v>
                  </c:pt>
                  <c:pt idx="3">
                    <c:v>PIB+HardTP</c:v>
                  </c:pt>
                  <c:pt idx="4">
                    <c:v>TP-PIB
w=0.5</c:v>
                  </c:pt>
                  <c:pt idx="5">
                    <c:v>TP-PIB
w=2.0</c:v>
                  </c:pt>
                  <c:pt idx="6">
                    <c:v>Raw RP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97.68</c:v>
                </c:pt>
                <c:pt idx="1">
                  <c:v>97</c:v>
                </c:pt>
                <c:pt idx="2">
                  <c:v>98.3</c:v>
                </c:pt>
                <c:pt idx="3">
                  <c:v>98.92</c:v>
                </c:pt>
                <c:pt idx="4">
                  <c:v>96.94</c:v>
                </c:pt>
                <c:pt idx="5">
                  <c:v>98.93</c:v>
                </c:pt>
                <c:pt idx="6">
                  <c:v>98.59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D2NN</a:t>
            </a:r>
            <a:endParaRPr lang="en-US" sz="4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Function Sweep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Limits &amp; Optimal Loss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38100">
            <a:solidFill>
              <a:srgbClr val="21B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Lab  |  2026-04-03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 Beam Cleanup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Cn²=5×10⁻¹⁴, L=1km, λ=1.55μm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loss strategies across 3 sweeps, 2 datasets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3657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dn100um (Lanczos)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PIB, Strehl, IO, CO+PIB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pitch_rescale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Bucket (F), TP+PIB (B), Multiplane (C)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pitch_rescale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CO+hardTP, AbsBkt+CO, PIB+hardTP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Strategies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3383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56032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3383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634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Each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3383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~3h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76656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Strategy (A100)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5-layer D2NN  |  spacing=10mm  |  f=4.5mm  |  N=1024  |  dx=2μm  |  pad=2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Normalized PIB Lies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PIB does NOT mean high received power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371600"/>
                <a:gridCol w="14630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PIB@10μm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Turb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Only (0401)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Strehl Only (0401)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Bucket F (0402)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TP+PIB B (0402)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Multiplane C (0402)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CO+hardTP (0403)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~NEUTRAL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Only achieved 90% PIB but absolute received power was only 58.7% of turbulent baseline.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the real metric.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Throughput Drop?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Filtering Mechanism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Mask Pattern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learns high-frequency phase gratings to redirect energy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Vignetting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Diffracted light at large angles exceeds finite aperture (dx=2μm ≫ λ/2=775nm)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Spatial Filter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scattered beyond computational domain is lost at each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beams lose MORE energy (50%) than vacuum (20-30%)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acts as aperture-based spatial filter — diffracts energy beyond collection aperture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Received Power Gap Decomposition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Bucket@10μm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11.51 (4.0%)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59.22 (21.4%)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3108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Parameters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46304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 = 442.9 nm (2.87λ)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Maréchal limit = λ/14 = 111nm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Strehl = exp(-σ²) = 0.04
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origin: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WFE spreading: 81.8%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Throughput loss: 18.2%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Power  ≈  TP  ×  exp(-σ²_WFE)  ×  P_diff.limited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Limit: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has random WFE from different turbulence realization. Fixed masks cannot correct random per-sample error → fundamental constraint.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0403 Combined 6-Strategy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Focal-plane PIB@10μm with pitch_rescale data, Cn²=5×10⁻¹⁴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28016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strategy: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TP-PIB w=0.5 achieves highest PIB (81.3%) while maintaining 96.9% throughput. All 0403 strategies preserve throughput &gt;96%.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Absolute Received Power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(gray) vs D2NN (color) — 500 test samples, bucket @10μm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+4.0%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AbsBkt+CO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1168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01168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+3.3%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1168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PIB+HardTP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4904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4904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+5.2%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4904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TP-PIB w=0.5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+3.3%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TP-PIB w=2.0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2376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2376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+3.8%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22376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Encircled Energy Analysis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computed at 4 radii: 5μm, 10μm, 25μm, 50μm | All strategies converge at r=50μm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Loss: High Throughput, Low PIB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CO+hardTP (0403) — Complex Overlap + Quadratic TP Penalty (λ=10)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99.3%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across all strategies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74.0%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PIB@10μm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turbulent baseline (76.1%)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26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Power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loss vs turbulent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Strehl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diffraction limit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371600"/>
            <a:ext cx="4023360" cy="20116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masks — nearly flat (minimal spatial filtering)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optimizes entire field matching, not bucket concentration. No gradient drives energy into the bucket. Highest TP but worst PIB — confirms CO alone is insufficient for FSO beam cleanup.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Fade &amp; Scintillation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Scintillation Statistics (dB, vacuum mean = 0 dB)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389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85800"/>
                <a:gridCol w="59436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 (F)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Fade Worst Cases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5156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-7.73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-6.36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+1.37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-5.20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-6.28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+1.24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-2.66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+1.02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Probability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88036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 (F)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-3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-5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-7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43251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is more effective in deep fades (+1.37 dB worst case) than average (+0.24 dB). </a:t>
            </a:r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D2NN acts as a "floor raiser" for worst-case link budget.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Zernike Mode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 correction capability by loss strategy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Higher-order 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Tip/Tilt 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F/B (Abs Bucket)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Multiplane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B6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PIB  ↔  Throughput : Structural Tradeoff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TP is preserved (F/B), Zernike delta ≈ 0 — no wavefront correction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TP drops (PIB Only), higher-order corrected -28 nm but tip/tilt added +16 nm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mask trades one aberration type for another via mode conversion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confirms: Fixed masks cannot correct random wavefront errors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Mask Comparison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AbsBkt+CO — nearly flat masks (TP=98.3%)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743200"/>
            <a:ext cx="859536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PIB+HardTP — also flat masks due to strong TP penalty (TP=98.9%)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0403 strategies learn conservative masks — TP penalty prevents aggressive spatial filtering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Optimal Loss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Bucket Loss — direct fiber-coupling optimization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solidFill>
            <a:srgbClr val="0D2137"/>
          </a:solidFill>
          <a:ln w="25400">
            <a:solidFill>
              <a:srgbClr val="21B6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L_abs  =  1  -  Σ_{r≤10μm} |E_pred^focal|²  /  Σ_{r≤10μm} |E_vac^focal|²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Throughput-aware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by vacuum bucket power captures both TP and PIB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Gradient-aligned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photon directed into bucket reduces loss directly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251960"/>
            <a:ext cx="365760" cy="365760"/>
          </a:xfrm>
          <a:prstGeom prst="ellipse">
            <a:avLst/>
          </a:prstGeom>
          <a:solidFill>
            <a:srgbClr val="21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Physics-faithful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Power ∝ TP × Strehl × P_diff → loss aligns with all three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the real performance metric. Normalized PIB is misleading.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D2NN absolute power improvement: +5.8% (+0.24 dB) — Abs Bucket (F) / TP+PIB (B).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↔ Throughput structural tradeoff. Energy concentration via scatter → throughput loss unavoidable.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PIB (94.2%) is TP-preserved ceiling. WFE=442.9nm (random per-sample) → fixed masks can't correct.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fade improvement: +1.37 dB worst case. Static D2NN is a "floor raiser".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886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bucket loss is the optimal objective. Bucket Power ∝ TP × Strehl × P_diff.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turbulence (Cn²=10⁻¹³) | Switchable static masks | Hybrid AO+D2NN | Dynamic D2NN (Zernike-based)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 Verification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of equations and physical claims (Codex/GPT-5.4 analysis)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Maréchal Strehl = exp(-σ²)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06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Gaussian phase stats, not just small-aberration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1280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L_abs = 1 - Σ|E_pred|² / Σ|E_vac|²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709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couples TP+PIB gradients; ideal for fiber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1709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9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∝ TP × exp(-σ²) × P_diff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139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separable TP/WFE; breaks in strong scintillation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2139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9464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69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filtering mechanism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vignetting, NOT evanescent (dx=2μm≫λ/2)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25694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99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PIB ↔ TP structural tradeoff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 static masks; not information-theoretic limit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Unitary CO preservation |ΔCO|&lt;0.01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with finite aperture + multi-layer losses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58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Zernike tip/tilt addition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mask adds fixed Zernike; modes affected differently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88536"/>
            <a:ext cx="82296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885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fade floor effect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4288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filtering establishes quality floor; expected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4288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 Codex (GPT-5.4)  |  6/8 fully correct, 1 approximately correct, 1 terminology corrected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D2NN Loss Function Sweep — 0403 Experiments</dc:title>
  <dc:subject>PptxGenJS Presentation</dc:subject>
  <dc:creator>D2NN Lab</dc:creator>
  <cp:lastModifiedBy>D2NN Lab</cp:lastModifiedBy>
  <cp:revision>1</cp:revision>
  <dcterms:created xsi:type="dcterms:W3CDTF">2026-04-06T04:54:43Z</dcterms:created>
  <dcterms:modified xsi:type="dcterms:W3CDTF">2026-04-06T04:54:43Z</dcterms:modified>
</cp:coreProperties>
</file>