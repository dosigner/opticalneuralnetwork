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8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D2NN Loss Function Sweep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D2NN</a:t>
            </a:r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Practical Limits &amp; Optimal Loss Strategy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1B98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2026-04-03  |  FSO Beam Cleanup Research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Experiment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loss strategies across 3 sweeps, 2 datasets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365760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Sweep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dn100um (Lanczos)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PIB, Strehl, IO, CO+PIB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pitch_rescale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 Bucket (F), TP+PIB (B), Multiplane (C)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pitch_rescale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CO+hardTP, AbsBkt+CO, PIB+hardTP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9184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B98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Strategies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51760" y="329184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65176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5000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265176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Pairs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329184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5488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75488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 Each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0" y="329184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~6 min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85800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Epoch (A100)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Normalized PIB Lies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PIB does NOT mean high received power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371600"/>
                <a:gridCol w="2011680"/>
                <a:gridCol w="1828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PIB@10μm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Throughput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 Power vs Turb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PIB Only (0401)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 Bucket F (0402)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TP+PIB B (0402)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Multiplane C (0402)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CO+hardTP (0403)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~NEUTRAL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38404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 Only achieved 90% PIB but absolute received power was only 58.7% of turbulent baseline. </a:t>
            </a:r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is the real metric.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Does Throughput Drop?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1B98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Mask Pattern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D2NN learns high-frequency phase gratings to redirect energy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1B98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Evanescent Waves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331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spatial frequencies exceed propagation cutoff (k²x + k²y &gt; k²)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1B98E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Spectrum Filter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246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Band-limited propagation zeros out evanescent components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1B98E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886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Lost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160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Turbulent beams lose MORE energy (50%) than vacuum (20-30%)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3840480" cy="411480"/>
          </a:xfrm>
          <a:prstGeom prst="rect">
            <a:avLst/>
          </a:prstGeom>
          <a:solidFill>
            <a:srgbClr val="1B98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572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D2NN acts as a spatial filter — scatters unwanted energy away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Absolute Received Power (0402)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Turbulent (gray) vs D2NN (color) — 500 test samples, bucket @10μm</a:t>
            </a:r>
            <a:endParaRPr lang="en-US" sz="1300" dirty="0"/>
          </a:p>
        </p:txBody>
      </p:sp>
      <p:pic>
        <p:nvPicPr>
          <p:cNvPr id="4" name="Image 0" descr="/root/dj/D2NN/kim2026/autoresearch/runs/0402-focal-new-losses-pitchrescale-3strat-cn2-5e14/16_abs_power_histogram_per_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84048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840480"/>
            <a:ext cx="73152" cy="1005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 Bucket (F)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+5.8% vs turbulent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474720" y="384048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3840480"/>
            <a:ext cx="73152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TP+PIB (B)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+5.8% vs turbulent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400800" y="384048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3840480"/>
            <a:ext cx="73152" cy="10058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Multiplane (C)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8368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-55.8% vs turbulent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Throughput vs PIB: Structural Trade-off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PIB@10μm vs Throughput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572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97280"/>
                <a:gridCol w="1005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PIB@10μm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Throughput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 Power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PIB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 Bucket (F)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TP+PIB (B)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Multiplane (C)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CO+hardTP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188720"/>
            <a:ext cx="3474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03520" y="1188720"/>
            <a:ext cx="73152" cy="10515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4"/>
          <p:cNvSpPr/>
          <p:nvPr/>
        </p:nvSpPr>
        <p:spPr>
          <a:xfrm>
            <a:off x="557784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TP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77840" y="1554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blocked → PIB limited to ~81%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(+5.8% absolute power)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03520" y="2423160"/>
            <a:ext cx="3474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0" y="2423160"/>
            <a:ext cx="73152" cy="10515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8"/>
          <p:cNvSpPr/>
          <p:nvPr/>
        </p:nvSpPr>
        <p:spPr>
          <a:xfrm>
            <a:off x="557784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577840" y="27889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 reaches 90% but absolute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drops to 59% of baseline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03520" y="3657600"/>
            <a:ext cx="3474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03520" y="3657600"/>
            <a:ext cx="73152" cy="1051560"/>
          </a:xfrm>
          <a:prstGeom prst="rect">
            <a:avLst/>
          </a:prstGeom>
          <a:solidFill>
            <a:srgbClr val="1B98E0"/>
          </a:solidFill>
          <a:ln/>
        </p:spPr>
      </p:sp>
      <p:sp>
        <p:nvSpPr>
          <p:cNvPr id="15" name="Text 12"/>
          <p:cNvSpPr/>
          <p:nvPr/>
        </p:nvSpPr>
        <p:spPr>
          <a:xfrm>
            <a:off x="557784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Limit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577840" y="4023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phase masks cannot correct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turbulence without energy loss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Mask Patterns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 Only (0401) — High-frequency grating, aggressive scatter</a:t>
            </a:r>
            <a:endParaRPr lang="en-US" sz="1200" dirty="0"/>
          </a:p>
        </p:txBody>
      </p:sp>
      <p:pic>
        <p:nvPicPr>
          <p:cNvPr id="4" name="Image 0" descr="/root/dj/D2NN/kim2026/autoresearch/runs/0401-focal-pib-sweep-clean-4loss-cn2-5e14/focal_pib_only/15_phase_masks_5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59536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 Bucket (0402) — Nearly flat, throughput preserved</a:t>
            </a:r>
            <a:endParaRPr lang="en-US" sz="1200" dirty="0"/>
          </a:p>
        </p:txBody>
      </p:sp>
      <p:pic>
        <p:nvPicPr>
          <p:cNvPr id="6" name="Image 1" descr="/root/dj/D2NN/kim2026/autoresearch/runs/0402-focal-new-losses-pitchrescale-3strat-cn2-5e14/focal_absolute_bucket/15_phase_masks_5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00400"/>
            <a:ext cx="859536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Zernike Mode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D2NN correct wavefront aberrations while maintaining throughput?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371600"/>
                <a:gridCol w="137160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Higher-order 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Tip/Tilt 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Throughput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F/B (Abs Bucket)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±1 nm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±0.2 nm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WF correction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Multiplane 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 nm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+1.3 nm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WF, bad TP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PIB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 nm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 nm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WF + scatter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32918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Dilemma: 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Wavefront correction requires the D2NN to create complex phase patterns.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patterns generate high spatial frequencies that get clipped by propagation.
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correcting wavefront = losing energy. A structural limit of static optics.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 Loss Alone Fails (0403)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co_hard_tp: CO + Quadratic TP penalty (λ=10)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1828800"/>
          </a:xfrm>
          <a:prstGeom prst="rect">
            <a:avLst/>
          </a:prstGeom>
          <a:solidFill>
            <a:srgbClr val="132D4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256032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99.3%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 all strategies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560320" cy="1828800"/>
          </a:xfrm>
          <a:prstGeom prst="rect">
            <a:avLst/>
          </a:prstGeom>
          <a:solidFill>
            <a:srgbClr val="132D4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63040"/>
            <a:ext cx="25603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74.0%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PIB@10μm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baseline (76.1%)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560320" cy="1828800"/>
          </a:xfrm>
          <a:prstGeom prst="rect">
            <a:avLst/>
          </a:prstGeom>
          <a:solidFill>
            <a:srgbClr val="132D4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463040"/>
            <a:ext cx="256032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97.0%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 Power vs Turb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 loss in received power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optimizes full-field matching (amplitude + phase), not bucket concentration.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gradient signal to focus energy into the 10μm bucket.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hope: pib_hard_tp combines PIB concentration + TP enforcement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73152" cy="822960"/>
          </a:xfrm>
          <a:prstGeom prst="rect">
            <a:avLst/>
          </a:prstGeom>
          <a:solidFill>
            <a:srgbClr val="1B98E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234440"/>
            <a:ext cx="502920" cy="502920"/>
          </a:xfrm>
          <a:prstGeom prst="ellipse">
            <a:avLst/>
          </a:prstGeom>
          <a:solidFill>
            <a:srgbClr val="1B98E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143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is the real metric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481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PIB can be misleading. Only strategies with TP &gt; 95% improved absolute received power.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57400"/>
            <a:ext cx="73152" cy="822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103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D2NN limit: +5.8%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24414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absolute power improvement over turbulent baseline (Abs Bucket / TP+PIB strategies).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017520"/>
            <a:ext cx="73152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3154680"/>
            <a:ext cx="502920" cy="5029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3063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 + TP are structurally opposed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34015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Concentrating energy requires scattering → throughput loss. Static masks can't escape this trade-off.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977640"/>
            <a:ext cx="73152" cy="82296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5448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Vacuum PIB (94%) is unreachable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54480" y="43616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throughput maintained, maximum PIB is ~82%. Closing the gap requires fundamentally different approaches.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8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(0403)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abs_bucket_plus_co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Focal abs power + CO wavefront matching
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pib_hard_tp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PIB maximization + quadratic TP (λ=10)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Most promising: PIB Only's 90% + TP enforcement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1600200"/>
            <a:ext cx="3657600" cy="502920"/>
          </a:xfrm>
          <a:prstGeom prst="rect">
            <a:avLst/>
          </a:prstGeom>
          <a:solidFill>
            <a:srgbClr val="132D4F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16184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D2NN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0" y="18470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Sample-adaptive phase masks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2240280"/>
            <a:ext cx="3657600" cy="502920"/>
          </a:xfrm>
          <a:prstGeom prst="rect">
            <a:avLst/>
          </a:prstGeom>
          <a:solidFill>
            <a:srgbClr val="132D4F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22585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AO + D2NN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24871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for low-order, D2NN for high-order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2880360"/>
            <a:ext cx="3657600" cy="502920"/>
          </a:xfrm>
          <a:prstGeom prst="rect">
            <a:avLst/>
          </a:prstGeom>
          <a:solidFill>
            <a:srgbClr val="132D4F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28986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Layers / Wider Aperture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31272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degrees of freedom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520440"/>
            <a:ext cx="3657600" cy="502920"/>
          </a:xfrm>
          <a:prstGeom prst="rect">
            <a:avLst/>
          </a:prstGeom>
          <a:solidFill>
            <a:srgbClr val="132D4F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35387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Weight Sweep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37673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smoothness vs correction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389120"/>
            <a:ext cx="7772400" cy="36576"/>
          </a:xfrm>
          <a:prstGeom prst="rect">
            <a:avLst/>
          </a:prstGeom>
          <a:solidFill>
            <a:srgbClr val="1B98E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26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the static limit requires moving beyond fixed phase masks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D2NN Loss Function Sweep Report</dc:title>
  <dc:subject>PptxGenJS Presentation</dc:subject>
  <dc:creator>D2NN Lab</dc:creator>
  <cp:lastModifiedBy>D2NN Lab</cp:lastModifiedBy>
  <cp:revision>1</cp:revision>
  <dcterms:created xsi:type="dcterms:W3CDTF">2026-04-03T20:49:25Z</dcterms:created>
  <dcterms:modified xsi:type="dcterms:W3CDTF">2026-04-03T20:49:25Z</dcterms:modified>
</cp:coreProperties>
</file>