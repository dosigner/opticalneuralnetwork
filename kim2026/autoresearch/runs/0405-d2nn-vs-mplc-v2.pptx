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D2NN vs MPLC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of Multi-Plane Phase Systems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Atmospheric Turbulence Mitigation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Lab  ·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λ = 1.55 μm  ·  Cn² = 5×10⁻¹⁴  ·  100m – 3km  ·  5-layer D2NN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Shared Foundation: Unitary Decomposition Theorem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D2NN and MPLC implement the same physics: cascaded phase masks with free-space propagation can realize any unitary spatial transformation (Reck et al. 1994, Morizur et al. 2010).</a:t>
            </a:r>
            <a:endParaRPr lang="en-US" sz="1400" dirty="0"/>
          </a:p>
        </p:txBody>
      </p:sp>
      <p:pic>
        <p:nvPicPr>
          <p:cNvPr id="4" name="Image 0" descr="/root/dj/D2NN/kim2026/autoresearch/runs/0405-mplc-figs/fig4_unitary_theor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0"/>
            <a:ext cx="116128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implication: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sufficient layers L, both systems can implement ANY mode transformation — the difference lies in </a:t>
            </a:r>
            <a:pPr indent="0" marL="0">
              <a:buNone/>
            </a:pPr>
            <a:r>
              <a:rPr lang="en-US" sz="15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phase masks are determined.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852160"/>
            <a:ext cx="5029200" cy="6400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852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MPLC: masks designed analytically via wavefront matching algorithm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52160" y="5852160"/>
            <a:ext cx="5029200" cy="64008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0" y="58521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D2NN: masks trained end-to-end via stochastic gradient descent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Hermite-Gaussian Mode Basis</a:t>
            </a:r>
            <a:endParaRPr lang="en-US" sz="2800" dirty="0"/>
          </a:p>
        </p:txBody>
      </p:sp>
      <p:pic>
        <p:nvPicPr>
          <p:cNvPr id="3" name="Image 0" descr="/root/dj/D2NN/kim2026/autoresearch/runs/0405-mplc-figs/fig1_hg_mo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6858000" cy="53035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06640" y="1005840"/>
            <a:ext cx="4389120" cy="530352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2"/>
          <p:cNvSpPr/>
          <p:nvPr/>
        </p:nvSpPr>
        <p:spPr>
          <a:xfrm>
            <a:off x="7589520" y="1188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Decomposition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589520" y="1645920"/>
            <a:ext cx="4023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beam can be decomposed into orthogonal HG modes: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40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U(x,y) = Σ cₙ ψₙ(x,y)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ψₙ = HG mode function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cₙ = complex mode coefficient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Turbulence redistributes energy across modes: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Weak turbulence: most energy in HG₀₀ (fundamental)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Strong turbulence: energy spreads to many higher-order modes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Number of significant modes ≈ (D/r₀)²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 sorts these modes spatially.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ignores mode structure entirely.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MPLC: Adaptive Mode Sorting Architecture</a:t>
            </a:r>
            <a:endParaRPr lang="en-US" sz="2800" dirty="0"/>
          </a:p>
        </p:txBody>
      </p:sp>
      <p:pic>
        <p:nvPicPr>
          <p:cNvPr id="3" name="Image 0" descr="/root/dj/D2NN/kim2026/autoresearch/runs/0405-mplc-figs/fig2_mplc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1179576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029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plane φₗ is designed so that after L planes, mode ψₙ emerges at spatial port n.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wavefront matching algorithm (Sakamaki et al.) iteratively optimizes each plane to maximize mode separation.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5760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turbulence compensation: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coherent detection at each port + real-time DSP to measure cₙ and recombine. This makes it an </a:t>
            </a:r>
            <a:pPr indent="0" marL="0">
              <a:buNone/>
            </a:pPr>
            <a:r>
              <a:rPr lang="en-US" sz="14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 with significant power consumption and latency requirements.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Cailabs PROTEUS: Commercial MPLC for FSO</a:t>
            </a:r>
            <a:endParaRPr lang="en-US" sz="2800" dirty="0"/>
          </a:p>
        </p:txBody>
      </p:sp>
      <p:pic>
        <p:nvPicPr>
          <p:cNvPr id="3" name="Image 0" descr="/root/dj/D2NN/kim2026/autoresearch/runs/0405-mplc-figs/fig5_cailabs_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1179576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59436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Cailabs approach: MPLC sorts turbulent beam into N HG modes → coherent Rx per port → DSP recombines. Requires SLM or fixed MPLC + N photodetectors + FPGA. Cost: tens of k$.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D2NN: Static Ensemble-Optimized Phase Masks</a:t>
            </a:r>
            <a:endParaRPr lang="en-US" sz="2800" dirty="0"/>
          </a:p>
        </p:txBody>
      </p:sp>
      <p:pic>
        <p:nvPicPr>
          <p:cNvPr id="3" name="Image 0" descr="/root/dj/D2NN/kim2026/autoresearch/runs/0405-mplc-figs/fig3_d2nn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005840"/>
            <a:ext cx="11795760" cy="38404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029200"/>
            <a:ext cx="5303520" cy="1554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5120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31520" y="53949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−log( E_bucket / E_input + ε 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585216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maximizes absolute focal bucket power.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vacuum reference. Throughput intrinsically preserved.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17920" y="5029200"/>
            <a:ext cx="5303520" cy="1554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51206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from MPLC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0" y="54406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masks for ALL turbulence realizations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mode decomposition or sensing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Zero power consumption (passive)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 RMS unchanged — NOT wavefront correction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Mechanism: energy redistribution + fade floor lifting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Physics Equations: MPLC vs D2NN</a:t>
            </a:r>
            <a:endParaRPr lang="en-US" sz="2800" dirty="0"/>
          </a:p>
        </p:txBody>
      </p:sp>
      <p:pic>
        <p:nvPicPr>
          <p:cNvPr id="3" name="Image 0" descr="/root/dj/D2NN/kim2026/autoresearch/runs/0405-mplc-figs/fig8_equ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4400"/>
            <a:ext cx="11978640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Distance Sweep Results: D2NN Received Power</a:t>
            </a:r>
            <a:endParaRPr lang="en-US" sz="2800" dirty="0"/>
          </a:p>
        </p:txBody>
      </p:sp>
      <p:pic>
        <p:nvPicPr>
          <p:cNvPr id="3" name="Image 0" descr="/root/dj/D2NN/kim2026/autoresearch/runs/0405-mplc-figs/fig6_performanc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11978640" cy="502920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89788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914400"/>
                <a:gridCol w="914400"/>
                <a:gridCol w="1371600"/>
                <a:gridCol w="1371600"/>
                <a:gridCol w="1371600"/>
                <a:gridCol w="1371600"/>
                <a:gridCol w="1737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D/r₀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σᴿ²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D2NN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(dB)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Fade 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405.6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382.1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728.4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628.3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499.5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275.1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166.0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+2.3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+7.0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3km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+8.1 dB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Mechanisms by Turbulence Regime</a:t>
            </a:r>
            <a:endParaRPr lang="en-US" sz="2800" dirty="0"/>
          </a:p>
        </p:txBody>
      </p:sp>
      <p:pic>
        <p:nvPicPr>
          <p:cNvPr id="3" name="Image 0" descr="/root/dj/D2NN/kim2026/autoresearch/runs/0405-mplc-figs/fig7_mechanism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822960"/>
            <a:ext cx="11978640" cy="47548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57607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D2NN cannot correct individual wavefronts. It performs ensemble-averaged energy redistribution: PSF reshaping (weak), statistical mode filtering (moderate), deep fade floor lifting (strong).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MPLC vs D2NN: Head-to-Head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389120"/>
                <a:gridCol w="4389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MPLC (Adaptive)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D2NN (Static)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Wavefront matching 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on turbulence ensemble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decomposition → sorting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redistribution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Per-realization (real-time)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mask (static)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 Correction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✘ No (WF RMS unchanged)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(sensing + DSP)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(passive element)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SLM + N detectors + FPGA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diffractive element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Turb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Strehl → 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+91% RP (PSF reshaping)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Turb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(mode-limited)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+6–9% only (correction gap)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Turb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 (scintillation)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+77–223% (fade mitigation)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$$$ (tens of k$)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(one-time fabrication)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2"/>
          <p:cNvSpPr/>
          <p:nvPr/>
        </p:nvSpPr>
        <p:spPr>
          <a:xfrm>
            <a:off x="731520" y="54864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excels where MPLC struggles (deep turbulence / cost) and vice versa (moderate turbulence / accuracy)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Terminology and Hybrid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5303520" cy="2743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73152" cy="2743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Call D2NN?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"Turbulence compensation" (no WF correction)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"Adaptive optics" (static, no feedback)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"Turbulence-resilient passive beam shaping"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"Static diffractive fade mitigation"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"Ensemble-optimized spatial filter"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1005840"/>
            <a:ext cx="5303520" cy="2743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309360" y="1005840"/>
            <a:ext cx="73152" cy="2743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097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Hybrid: D2NN + MPLC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3680" y="1554480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(passive):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reduces fade depth, stabilizes beam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(active):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 mode correction on pre-stabilized beam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D2NN reduces MPLC dynamic range requirement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Lower MPLC update rate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Graceful degradation if MPLC fails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Simpler (fewer-mode) MPLC sufficient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201168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4297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+2.8 dB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Gain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(weak)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834640" y="4114800"/>
            <a:ext cx="201168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4297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+5.1 dB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83464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Gain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(strong)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20640" y="4114800"/>
            <a:ext cx="201168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120640" y="4297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+8.1 dB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12064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 Floor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06640" y="4114800"/>
            <a:ext cx="201168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4297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W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40664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Power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692640" y="4114800"/>
            <a:ext cx="201168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92640" y="42976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$100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9692640" y="53949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71600" y="1371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and MPLC share identical physics: cascaded phase masks + free-space propagation = unitary transformation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1945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 decomposes into HG modes and corrects adaptively; D2NN applies a fixed, ensemble-optimized spatial filter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FCA5A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is NOT wavefront correction — it's passive turbulence resilience via energy redistribution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86EFA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8404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D2NN advantage: zero power, $-cost, fabricate-once, effective in deep turbulence (+5.1 dB, +8 dB fade floor)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4663440"/>
            <a:ext cx="457200" cy="457200"/>
          </a:xfrm>
          <a:prstGeom prst="ellipse">
            <a:avLst/>
          </a:prstGeom>
          <a:solidFill>
            <a:srgbClr val="93C5F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66344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MPLC advantage: true per-realization mode correction, full wavefront recovery, but complex and expensive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1520" y="5486400"/>
            <a:ext cx="457200" cy="457200"/>
          </a:xfrm>
          <a:prstGeom prst="ellipse">
            <a:avLst/>
          </a:prstGeom>
          <a:solidFill>
            <a:srgbClr val="FDE68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Future: D2NN (passive pre-conditioning) + MPLC (active fine correction) = complementary hybrid architecture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521440" y="6400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D2NN vs MPLC: Physics-Based Comparison</dc:title>
  <dc:subject>PptxGenJS Presentation</dc:subject>
  <dc:creator>Kim Lab</dc:creator>
  <cp:lastModifiedBy>Kim Lab</cp:lastModifiedBy>
  <cp:revision>1</cp:revision>
  <dcterms:created xsi:type="dcterms:W3CDTF">2026-04-06T05:21:34Z</dcterms:created>
  <dcterms:modified xsi:type="dcterms:W3CDTF">2026-04-06T05:21:34Z</dcterms:modified>
</cp:coreProperties>
</file>