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Static D2NN Distance Sweep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Received Power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A0C8E8"/>
                </a:solidFill>
                <a:latin typeface="Calibri"/>
              </a:rPr>
              <a:t>f = 6.5mm  |  Raw RP Loss  |  Cn² = 5×10⁻¹⁴  |  100m – 3km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80A0C0"/>
                </a:solidFill>
                <a:latin typeface="Calibri"/>
              </a:rPr>
              <a:t>Kim Lab  —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46120"/>
            <a:ext cx="4572000" cy="381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System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spcAft>
                <a:spcPts val="4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λ = 1.55 μm, 5-layer phase-only D2NN, inter-layer spacing = 10 mm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f = 6.5 mm focus lens (changed from 4.5 mm)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Airy radius:  r_Airy = 1.22λf/D = 6.1 μm  (vs 4.2 μm at f = 4.5 mm)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10 μm SMF bucket radius → 1.6 Airy radii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Loss function:  L = –log(E_bucket / E_input + ε)  —  no vacuum reference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Key insight: larger f → better matched to D2NN correction bandwidth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8229600" cy="1645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470916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Turbulence (100m–3km)  →  Aperture (D=2.048mm)  →  5× D2NN Layers (10mm spacing)  →  Lens (f=6.5mm)  →  Focal Plane (10μm bucket)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Turbulence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3/10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6858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246888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D/r₀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σᴿ²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1.26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0.015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Weak, near-DL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500 m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3.31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 km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5.02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Strong onset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2 km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7.61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3 km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9.70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Deep strong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114800"/>
            <a:ext cx="6858000" cy="20116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Key Equations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r₀ = (0.423 k² Cn² L)^(–3/5)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σᴿ² = 1.23 Cn² k^(7/6) L^(11/6)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where k = 2π/λ, L = propagation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Regime Interpretation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D/r₀ &lt; 2: Aperture smaller than coherence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→ tilt-dominated, near diffraction-limited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D/r₀ ≈ 3–5: Multiple speckles form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→ random phase screen, moderate scintillation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D/r₀ &gt; 7: Many speckle modes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→ deep fades, log-normal → exponential statistics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Main Results — Received Power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4/10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7772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1463040"/>
                <a:gridCol w="1463040"/>
                <a:gridCol w="219456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Vac Bucket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Turb Bucket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D2NN Bucket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Improvement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405.6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382.1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728.4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+91% (+2.8 dB)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500 m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628.3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499.5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530.5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+6.2% (+0.26 dB)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 km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275.1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166.0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180.9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+9.0% (+0.37 dB)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 km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34.0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+77% (+2.5 dB)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 km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+223% (+5.1 dB)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6" name="Picture 5" descr="21_distance_sweep_summary_6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112471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Three Physical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5/10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2377440"/>
          </a:xfrm>
          <a:prstGeom prst="roundRect">
            <a:avLst/>
          </a:prstGeom>
          <a:solidFill>
            <a:srgbClr val="E8F4E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Regime 1 — Weak (100 m)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PSF Reshaping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D2NN learns sidelobe-suppression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phase profile (NOT a lens)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Redistributes Airy sidelobe energy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into central core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Bucket exceeds vacuum: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728 vs 406 (mode reshaping)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Variance: 0.20 → 0.08 dB (−60%)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Phase-only unitary — total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energy conserved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657600" cy="2377440"/>
          </a:xfrm>
          <a:prstGeom prst="roundRect">
            <a:avLst/>
          </a:prstGeom>
          <a:solidFill>
            <a:srgbClr val="FDF0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Regime 2 — Moderate (500m–1km)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Correction Gap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Static mask = single spatial filter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vs ~(D/r₀)² ≈ 10–25 random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speckle modes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Cannot adaptively correct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random wavefronts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Improvement limited to +6–9%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(statistical mode filtering)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Fundamental limit of static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optical element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657600" cy="237744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Regime 3 — Strong (2–3km)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Deep Fade Mitigation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Ensemble-optimized scatter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redirection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Mode conversion: maps diverse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turbulent inputs to optimized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output mode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+77% (2km) to +223% (3km)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Caution: large % on small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base ("denominator effect")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114800"/>
            <a:ext cx="114300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Key Insight: Static D2NN operates through three distinct mechanisms depending on turbulence strength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Weak: Constructive interference reshaping — can exceed vacuum coupling (not energy creation, but mode matching)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Moderate: Fundamental static-vs-dynamic mismatch — single mask cannot correct ~(D/r₀)² random modes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Strong: Statistical optimization over ensemble — D2NN compresses the tail of the fade distribution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Common thread: mechanism is energy redistribution / mode conversion, NOT wavefront correction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Fade Mitigation — The Key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6/10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0058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1463040"/>
                <a:gridCol w="1280160"/>
                <a:gridCol w="1645920"/>
                <a:gridCol w="164592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σ_turb (dB)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σ_d2nn (dB)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 Reduc.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Min Turb (dB)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Min D2NN (dB)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Fade Mitig.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–0.97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+2.25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3.2 dB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500 m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–9.05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–7.73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1.3 dB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 km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1.96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1.65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–13.4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–11.1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2.3 dB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 km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3.68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2.90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–20.6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–13.6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7.0 dB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 km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3.61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–23.7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–15.6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8.1 dB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DF0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KEY: At 3 km, D2NN prevents 8 dB of deep fade — difference between link outage and recovery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 D2NN compresses the tail of the log-amplitude distribution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 Acts as a passive spatial diversity device with learned optimization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 Variance reduction grows with turbulence: 15% (moderate) → 28% (strong)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 Minimum received power improvement: 1.3 dB (500 m) to 8.1 dB (3 km)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 For FSO link budgets, fade mitigation often matters more than mean gain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Loss Function Design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7/10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Raw Received Power Loss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L = –log( E_bucket / E_input + ε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3366"/>
                </a:solidFill>
                <a:latin typeface="Calibri"/>
              </a:rPr>
              <a:t>Three Advantages: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No vacuum normalization pathology — PIB can be gamed by scattering energy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Throughput intrinsically rewarded:  E_b/E_in = η × γ  (throughput × concentration)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Log gradient compression: strong signal when bucket power is 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5486400" cy="1097280"/>
          </a:xfrm>
          <a:prstGeom prst="roundRect">
            <a:avLst/>
          </a:prstGeom>
          <a:solidFill>
            <a:srgbClr val="E8F4E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Calibri"/>
              </a:rPr>
              <a:t>Throughput maintained 0.88 – 0.996 without explicit penalty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303520" cy="457200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Prior Results (0401 Sweep)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PIB Loss: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Throughput dropped to ~50%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Received power DECREASED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PIB metric gamed by scattering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This Sweep (Raw RP Loss)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RP Loss: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Throughput preserved (0.88–0.996)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Received power INCREASED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Correct physics incentive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Note:</a:t>
            </a:r>
            <a:r>
              <a:rPr sz="1300" b="0">
                <a:solidFill>
                  <a:srgbClr val="333333"/>
                </a:solidFill>
                <a:latin typeface="Calibri"/>
              </a:rPr>
              <a:t> E_b/E_in is bounded by [0,1]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for unitary phase-only D2NN —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log transform helps optimization,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not physics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Why f = 6.5 mm Works Better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8/10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8686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 = 4.5 mm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 = 6.5 mm</a:t>
                      </a:r>
                    </a:p>
                  </a:txBody>
                  <a:tcPr anchor="ctr">
                    <a:solidFill>
                      <a:srgbClr val="00528A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Airy radius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4.2 μm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6.1 μm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Bucket / Airy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2.4 radii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1.6 radii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dx_focal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3.4 μm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4.9 μm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Bucket coverage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Captures most DL energy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Room for D2NN to improve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D2NN benefit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Limited headroom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Better matched to correction BW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>
                      <a:solidFill>
                        <a:srgbClr val="808080"/>
                      </a:solidFill>
                    </a:lnL>
                    <a:lnR w="6350" cap="flat" cmpd="sng">
                      <a:solidFill>
                        <a:srgbClr val="808080"/>
                      </a:solidFill>
                    </a:lnR>
                    <a:lnT w="6350" cap="flat" cmpd="sng">
                      <a:solidFill>
                        <a:srgbClr val="808080"/>
                      </a:solidFill>
                    </a:lnT>
                    <a:lnB w="6350" cap="flat" cmpd="sng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114800"/>
            <a:ext cx="4572000" cy="210312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2519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f = 4.5 mm (Previous)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10 μm bucket = 2.4 Airy radii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→ Already captures most of the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 diffraction-limited energy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→ Little room for D2NN to improve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 fiber coupling efficiency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4572000" cy="2103120"/>
          </a:xfrm>
          <a:prstGeom prst="roundRect">
            <a:avLst/>
          </a:prstGeom>
          <a:solidFill>
            <a:srgbClr val="E8F4E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42519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f = 6.5 mm (Current)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10 μm bucket = 1.6 Airy radii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→ Tighter bucket relative to PSF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→ D2NN correction bandwidth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   better matched to geometry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→ More headroom for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  <a:latin typeface="Calibri"/>
              </a:rPr>
              <a:t>Caveats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182880">
              <a:spcAft>
                <a:spcPts val="400"/>
              </a:spcAft>
              <a:buChar char="•"/>
            </a:pPr>
            <a:r>
              <a:rPr sz="1500" b="1">
                <a:solidFill>
                  <a:srgbClr val="333333"/>
                </a:solidFill>
                <a:latin typeface="Calibri"/>
              </a:rPr>
              <a:t>Static mask cannot adaptively correct random wavefronts</a:t>
            </a:r>
            <a:r>
              <a:rPr sz="1500">
                <a:solidFill>
                  <a:srgbClr val="333333"/>
                </a:solidFill>
                <a:latin typeface="Calibri"/>
              </a:rPr>
              <a:t> — fundamental limit of passive optics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500" b="1">
                <a:solidFill>
                  <a:srgbClr val="333333"/>
                </a:solidFill>
                <a:latin typeface="Calibri"/>
              </a:rPr>
              <a:t>WF RMS unchanged (~442 nm)</a:t>
            </a:r>
            <a:r>
              <a:rPr sz="1500">
                <a:solidFill>
                  <a:srgbClr val="333333"/>
                </a:solidFill>
                <a:latin typeface="Calibri"/>
              </a:rPr>
              <a:t> — mechanism is energy redistribution, NOT wavefront correction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500" b="1">
                <a:solidFill>
                  <a:srgbClr val="333333"/>
                </a:solidFill>
                <a:latin typeface="Calibri"/>
              </a:rPr>
              <a:t>Strong turbulence modeling (σᴿ² = 7.5):</a:t>
            </a:r>
            <a:r>
              <a:rPr sz="1500">
                <a:solidFill>
                  <a:srgbClr val="333333"/>
                </a:solidFill>
                <a:latin typeface="Calibri"/>
              </a:rPr>
              <a:t> split-step valid but 500 test samples insufficient
   for heavy-tail fade statistics (need ~10⁴ for 99th percentile confidence)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500" b="1">
                <a:solidFill>
                  <a:srgbClr val="333333"/>
                </a:solidFill>
                <a:latin typeface="Calibri"/>
              </a:rPr>
              <a:t>Phase-only assumption:</a:t>
            </a:r>
            <a:r>
              <a:rPr sz="1500">
                <a:solidFill>
                  <a:srgbClr val="333333"/>
                </a:solidFill>
                <a:latin typeface="Calibri"/>
              </a:rPr>
              <a:t> real devices have finite thickness, quantization, and absorption losses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500" b="1">
                <a:solidFill>
                  <a:srgbClr val="333333"/>
                </a:solidFill>
                <a:latin typeface="Calibri"/>
              </a:rPr>
              <a:t>Monochromatic:</a:t>
            </a:r>
            <a:r>
              <a:rPr sz="1500">
                <a:solidFill>
                  <a:srgbClr val="333333"/>
                </a:solidFill>
                <a:latin typeface="Calibri"/>
              </a:rPr>
              <a:t> real laser has finite linewidth; broadband performance not tested</a:t>
            </a:r>
          </a:p>
          <a:p>
            <a:pPr algn="l" marL="274320" indent="-182880">
              <a:spcAft>
                <a:spcPts val="400"/>
              </a:spcAft>
              <a:buChar char="•"/>
            </a:pPr>
            <a:r>
              <a:rPr sz="1500" b="1">
                <a:solidFill>
                  <a:srgbClr val="333333"/>
                </a:solidFill>
                <a:latin typeface="Calibri"/>
              </a:rPr>
              <a:t>100 m "super-vacuum" result</a:t>
            </a:r>
            <a:r>
              <a:rPr sz="1500">
                <a:solidFill>
                  <a:srgbClr val="333333"/>
                </a:solidFill>
                <a:latin typeface="Calibri"/>
              </a:rPr>
              <a:t> needs validation with real (non-ideal) lens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657600" cy="381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99CC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Static D2NN provides +6% to +223% received power improvement across 100 m – 3 km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99CC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Three distinct mechanisms: PSF reshaping (weak), statistical filtering (moderate), fade mitigation (strong)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99CC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Raw RP loss is the correct objective — PIB-based losses cause throughput collapse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99CC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f = 6.5 mm better matched to D2NN than f = 4.5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99CC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Deep fade mitigation (8 dB at 3 km) most impactful for FSO link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099CC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Mechanism is mode conversion / energy redistribution, NOT wavefront correction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