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CE"/>
          </a:solidFill>
          <a:ln w="12700">
            <a:solidFill>
              <a:srgbClr val="2A9DC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8229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Static D2NN Distance Sweep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EDF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Distance Sweep 결과는 무엇을 보여주는가?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2011680" cy="0"/>
          </a:xfrm>
          <a:prstGeom prst="line">
            <a:avLst/>
          </a:prstGeom>
          <a:noFill/>
          <a:ln w="31750">
            <a:solidFill>
              <a:srgbClr val="2A9D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56032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목표는 PIB가 아니라 10 μm focal bucket 안 absolute received power 증가 여부를 보는 것이다.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이번 deck은 거리 sweep 결과를 재배치하면서, quantity 정의와 해석 가능한 범위를 먼저 분리한다.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표시된 sweep은 2000 realizations / 거리, split 1600/200/200 기준의 100 m–3 km subset만 다룬다.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0" y="914400"/>
            <a:ext cx="4069080" cy="3840480"/>
          </a:xfrm>
          <a:prstGeom prst="roundRect">
            <a:avLst>
              <a:gd name="adj" fmla="val 1190"/>
            </a:avLst>
          </a:prstGeom>
          <a:solidFill>
            <a:srgbClr val="17344E"/>
          </a:solidFill>
          <a:ln w="12700">
            <a:solidFill>
              <a:srgbClr val="31516D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516368" y="10789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9DC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숫자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516368" y="15087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7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 m gain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052560" y="14904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+2.80 dB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16368" y="203911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7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 km gain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052560" y="20208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+0.37 dB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16368" y="256946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7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 km gain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052560" y="255117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F3C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+5.09 dB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16368" y="309981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7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 km fade floor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052560" y="30815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-23.7 → -15.6 dB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516368" y="36301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7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D2NN throughput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052560" y="36118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88.3–99.6%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" y="5989320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메시지: 평균 gain 자체보다, quantity 정의를 바르게 두었을 때 어떤 관측만 안전하게 말할 수 있는지가 중요하다.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419088"/>
            <a:ext cx="9784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Source: 0405 distance_sweep_summary.json, per-distance results.json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0881360" y="640080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1/11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질문과 발표 흐름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15400" y="25603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세미나 설득형 구성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713232"/>
            <a:ext cx="11064240" cy="0"/>
          </a:xfrm>
          <a:prstGeom prst="line">
            <a:avLst/>
          </a:prstGeom>
          <a:noFill/>
          <a:ln w="12700">
            <a:solidFill>
              <a:srgbClr val="D7E2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960120"/>
            <a:ext cx="3611880" cy="4526280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7E2EB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1430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609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이번 발표에서 먼저 고정할 질문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정적 phase-only D2NN가 각 샘플의 난류 wavefront를 복원한다고 주장할 수는 없어도,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거리 증가에 따라 central bucket 안 absolute received power와 fade tail을 어떻게 바꾸는가?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먼저 quantity 정의와 해석 가능한 범위를 분리한다.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그다음 거리별 수치와 6-panel figure를 보여준다.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마지막에 100 m와 2–3 km에서 관측되는 현상을 보수적 문장으로 요약한다.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80560" y="960120"/>
            <a:ext cx="7132320" cy="4526280"/>
          </a:xfrm>
          <a:prstGeom prst="roundRect">
            <a:avLst>
              <a:gd name="adj" fmla="val 1010"/>
            </a:avLst>
          </a:prstGeom>
          <a:solidFill>
            <a:srgbClr val="EAF4FB"/>
          </a:solidFill>
          <a:ln w="12700">
            <a:solidFill>
              <a:srgbClr val="C7DDEB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80160"/>
            <a:ext cx="65836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E2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10328" y="1353312"/>
            <a:ext cx="310896" cy="310896"/>
          </a:xfrm>
          <a:prstGeom prst="ellipse">
            <a:avLst/>
          </a:prstGeom>
          <a:solidFill>
            <a:srgbClr val="1E6091"/>
          </a:solidFill>
          <a:ln w="12700">
            <a:solidFill>
              <a:srgbClr val="1E60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135788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58384" y="135331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지표 정의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65392" y="1353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bucket power, throughput, Raw RP loss, D/r₀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4754880" y="2029968"/>
            <a:ext cx="65836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E2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10328" y="2103120"/>
            <a:ext cx="310896" cy="310896"/>
          </a:xfrm>
          <a:prstGeom prst="ellipse">
            <a:avLst/>
          </a:prstGeom>
          <a:solidFill>
            <a:srgbClr val="1E6091"/>
          </a:solidFill>
          <a:ln w="12700">
            <a:solidFill>
              <a:srgbClr val="1E609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210769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58384" y="210312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geometry 확인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65392" y="210312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 cm telescope aperture와 2.048 mm internal window 구분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4754880" y="2779776"/>
            <a:ext cx="6583680" cy="502920"/>
          </a:xfrm>
          <a:prstGeom prst="roundRect">
            <a:avLst>
              <a:gd name="adj" fmla="val 7273"/>
            </a:avLst>
          </a:prstGeom>
          <a:solidFill>
            <a:srgbClr val="F0FAF4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10328" y="2852928"/>
            <a:ext cx="310896" cy="310896"/>
          </a:xfrm>
          <a:prstGeom prst="ellipse">
            <a:avLst/>
          </a:prstGeom>
          <a:solidFill>
            <a:srgbClr val="1E6091"/>
          </a:solidFill>
          <a:ln w="12700">
            <a:solidFill>
              <a:srgbClr val="1E6091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0328" y="285750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58384" y="28529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distance 결과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65392" y="285292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 m–3 km table + 6-panel evidence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4754880" y="3529584"/>
            <a:ext cx="65836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E2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10328" y="3602736"/>
            <a:ext cx="310896" cy="310896"/>
          </a:xfrm>
          <a:prstGeom prst="ellipse">
            <a:avLst/>
          </a:prstGeom>
          <a:solidFill>
            <a:srgbClr val="1E6091"/>
          </a:solidFill>
          <a:ln w="12700">
            <a:solidFill>
              <a:srgbClr val="1E609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0328" y="360730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58384" y="360273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보수 해석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65392" y="3602736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mode reshaping / fade-tail compression 관측 수준으로만 정리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4754880" y="4279392"/>
            <a:ext cx="65836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E2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10328" y="4352544"/>
            <a:ext cx="310896" cy="310896"/>
          </a:xfrm>
          <a:prstGeom prst="ellipse">
            <a:avLst/>
          </a:prstGeom>
          <a:solidFill>
            <a:srgbClr val="1E6091"/>
          </a:solidFill>
          <a:ln w="12700">
            <a:solidFill>
              <a:srgbClr val="1E6091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0328" y="435711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58384" y="435254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한계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65392" y="4352544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200 held-out samples, finite-NA/SMF mode overlap 미모델링</a:t>
            </a:r>
            <a:endParaRPr lang="en-US" sz="1030" dirty="0"/>
          </a:p>
        </p:txBody>
      </p:sp>
      <p:sp>
        <p:nvSpPr>
          <p:cNvPr id="36" name="Text 34"/>
          <p:cNvSpPr/>
          <p:nvPr/>
        </p:nvSpPr>
        <p:spPr>
          <a:xfrm>
            <a:off x="548640" y="6419088"/>
            <a:ext cx="9784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Flow driver: quantity mismatch를 먼저 정리하고 결과를 읽는 순서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0881360" y="640080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2/11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지표 정의와 해석 범위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15400" y="25603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quantity 먼저 고정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713232"/>
            <a:ext cx="11064240" cy="0"/>
          </a:xfrm>
          <a:prstGeom prst="line">
            <a:avLst/>
          </a:prstGeom>
          <a:noFill/>
          <a:ln w="12700">
            <a:solidFill>
              <a:srgbClr val="D7E2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051560"/>
            <a:ext cx="2880360" cy="1828800"/>
          </a:xfrm>
          <a:prstGeom prst="roundRect">
            <a:avLst>
              <a:gd name="adj" fmla="val 2500"/>
            </a:avLst>
          </a:prstGeom>
          <a:solidFill>
            <a:srgbClr val="EAF4FB"/>
          </a:solidFill>
          <a:ln w="12700">
            <a:solidFill>
              <a:srgbClr val="C8DCE8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8952" y="1170432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609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Bucket Power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5544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 μm focal bucket 안 absolute energy.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이번 sweep의 primary observable.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41648" y="1051560"/>
            <a:ext cx="2880360" cy="1828800"/>
          </a:xfrm>
          <a:prstGeom prst="roundRect">
            <a:avLst>
              <a:gd name="adj" fmla="val 2500"/>
            </a:avLst>
          </a:prstGeom>
          <a:solidFill>
            <a:srgbClr val="EAF7EF"/>
          </a:solidFill>
          <a:ln w="12700">
            <a:solidFill>
              <a:srgbClr val="CDE3D3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06240" y="1170432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609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Throughput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24528" y="15544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output energy / input energy.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수동 소자 해석에서 반드시 같이 봐야 하는 항목.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88936" y="1051560"/>
            <a:ext cx="2880360" cy="1828800"/>
          </a:xfrm>
          <a:prstGeom prst="roundRect">
            <a:avLst>
              <a:gd name="adj" fmla="val 2500"/>
            </a:avLst>
          </a:prstGeom>
          <a:solidFill>
            <a:srgbClr val="FFF4E3"/>
          </a:solidFill>
          <a:ln w="12700">
            <a:solidFill>
              <a:srgbClr val="E8D9B6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53528" y="1170432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609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Raw RP loss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71816" y="15544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−log(E_bucket / E_input + ε).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Vacuum reference 없이 absolute bucket power를 직접 최적화.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246120"/>
            <a:ext cx="107442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7E2EB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2688" y="340156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E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발표에서 허용하는 문장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0" y="3401568"/>
            <a:ext cx="7726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“bucket power가 증가했다”, “fade-tail이 완화되는 관측이 있다”, “mode reshaping과 일관적인 그림이다”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932688" y="37490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4A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발표에서 피해야 하는 문장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37490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“wavefront correction을 증명했다”, “link outage와 recovery를 단정한다”, “WFE가 전체 sweep에서 unchanged ≈ 442 nm다”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731520" y="4709160"/>
            <a:ext cx="10744200" cy="1051560"/>
          </a:xfrm>
          <a:prstGeom prst="roundRect">
            <a:avLst>
              <a:gd name="adj" fmla="val 4348"/>
            </a:avLst>
          </a:prstGeom>
          <a:solidFill>
            <a:srgbClr val="F2EEFB"/>
          </a:solidFill>
          <a:ln w="12700">
            <a:solidFill>
              <a:srgbClr val="DDD3F3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5029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5C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D/r₀는 15 cm telescope aperture 기준의 난류 분류량이고, 2.048 mm는 beam-reduced D2NN internal window다. 두 길이 척도는 목적이 다르므로 같은 D로 읽으면 안 된다.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" y="6419088"/>
            <a:ext cx="9784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Guardrail: quantity와 해석 수준을 먼저 고정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0881360" y="640080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3/11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시스템 설정과 geometry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15400" y="25603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distance sweep 입력/출력 정의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713232"/>
            <a:ext cx="11064240" cy="0"/>
          </a:xfrm>
          <a:prstGeom prst="line">
            <a:avLst/>
          </a:prstGeom>
          <a:noFill/>
          <a:ln w="12700">
            <a:solidFill>
              <a:srgbClr val="D7E2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960120"/>
            <a:ext cx="3886200" cy="448056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D7E2EB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1155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609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실험 설정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1463040"/>
            <a:ext cx="3383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3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파장 1.55 μm, phase-only 5-layer D2NN, inter-layer spacing 10 mm</a:t>
            </a:r>
            <a:endParaRPr lang="en-US" sz="1130" dirty="0"/>
          </a:p>
          <a:p>
            <a:pPr marL="342900" indent="-342900">
              <a:buSzPct val="100000"/>
              <a:buChar char="•"/>
            </a:pPr>
            <a:r>
              <a:rPr lang="en-US" sz="113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focus lens f = 6.5 mm, detector distance 10 mm</a:t>
            </a:r>
            <a:endParaRPr lang="en-US" sz="1130" dirty="0"/>
          </a:p>
          <a:p>
            <a:pPr marL="342900" indent="-342900">
              <a:buSzPct val="100000"/>
              <a:buChar char="•"/>
            </a:pPr>
            <a:r>
              <a:rPr lang="en-US" sz="113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beam-reduced internal window 2.048 mm, aperture parameter 2.0 mm</a:t>
            </a:r>
            <a:endParaRPr lang="en-US" sz="1130" dirty="0"/>
          </a:p>
          <a:p>
            <a:pPr marL="342900" indent="-342900">
              <a:buSzPct val="100000"/>
              <a:buChar char="•"/>
            </a:pPr>
            <a:r>
              <a:rPr lang="en-US" sz="113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평가 bucket radius 10 μm, held-out test 200 samples / 거리</a:t>
            </a:r>
            <a:endParaRPr lang="en-US" sz="1130" dirty="0"/>
          </a:p>
          <a:p>
            <a:pPr marL="342900" indent="-342900">
              <a:buSzPct val="100000"/>
              <a:buChar char="•"/>
            </a:pPr>
            <a:r>
              <a:rPr lang="en-US" sz="113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distance subset: 100 m, 500 m, 1 km, 2 km, 3 km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841248" y="4114800"/>
            <a:ext cx="1417320" cy="713232"/>
          </a:xfrm>
          <a:prstGeom prst="roundRect">
            <a:avLst>
              <a:gd name="adj" fmla="val 6410"/>
            </a:avLst>
          </a:prstGeom>
          <a:solidFill>
            <a:srgbClr val="EAF4FB"/>
          </a:solidFill>
          <a:ln w="12700">
            <a:solidFill>
              <a:srgbClr val="C8D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4178808"/>
            <a:ext cx="119786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dx_focal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50976" y="4398264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609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4.92 μm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331720" y="4114800"/>
            <a:ext cx="1417320" cy="713232"/>
          </a:xfrm>
          <a:prstGeom prst="roundRect">
            <a:avLst>
              <a:gd name="adj" fmla="val 6410"/>
            </a:avLst>
          </a:prstGeom>
          <a:solidFill>
            <a:srgbClr val="EAF7EF"/>
          </a:solidFill>
          <a:ln w="12700">
            <a:solidFill>
              <a:srgbClr val="CDE3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41448" y="4178808"/>
            <a:ext cx="119786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Airy@6.5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41448" y="4398264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8E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6.00 μm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754880" y="960120"/>
            <a:ext cx="6812280" cy="4480560"/>
          </a:xfrm>
          <a:prstGeom prst="roundRect">
            <a:avLst>
              <a:gd name="adj" fmla="val 1020"/>
            </a:avLst>
          </a:prstGeom>
          <a:solidFill>
            <a:srgbClr val="EAF4FB"/>
          </a:solidFill>
          <a:ln w="12700">
            <a:solidFill>
              <a:srgbClr val="C7DDEB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83480" y="11155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609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두 aperture를 분리해서 읽어야 하는 이유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983480" y="1481328"/>
            <a:ext cx="635508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2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3792" y="155448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 cm telescope aperture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20840" y="155448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난류가 receiver pupil에 걸리는 강도를 분류하는 physical entrance aperture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83480" y="2212848"/>
            <a:ext cx="6355080" cy="530352"/>
          </a:xfrm>
          <a:prstGeom prst="roundRect">
            <a:avLst>
              <a:gd name="adj" fmla="val 6897"/>
            </a:avLst>
          </a:prstGeom>
          <a:solidFill>
            <a:srgbClr val="F4F8FB"/>
          </a:solidFill>
          <a:ln w="12700">
            <a:solidFill>
              <a:srgbClr val="D7E2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93792" y="228600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75:1 beam reducer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20840" y="228600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 cm scale pupil을 2.048 mm 내부 계산 window로 매핑하는 relay surrogate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83480" y="2944368"/>
            <a:ext cx="635508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2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93792" y="30175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2.048 mm internal window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20840" y="301752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D2NN가 보는 계산 domain. sampling, dx, focal scaling 계산에 사용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83480" y="3675888"/>
            <a:ext cx="6355080" cy="530352"/>
          </a:xfrm>
          <a:prstGeom prst="roundRect">
            <a:avLst>
              <a:gd name="adj" fmla="val 6897"/>
            </a:avLst>
          </a:prstGeom>
          <a:solidFill>
            <a:srgbClr val="F4F8FB"/>
          </a:solidFill>
          <a:ln w="12700">
            <a:solidFill>
              <a:srgbClr val="D7E2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93792" y="37490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2.0 mm aperture parameter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20840" y="374904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D2NN output aperture/training config에 들어간 loss support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83480" y="4572000"/>
            <a:ext cx="6355080" cy="658368"/>
          </a:xfrm>
          <a:prstGeom prst="roundRect">
            <a:avLst>
              <a:gd name="adj" fmla="val 6944"/>
            </a:avLst>
          </a:prstGeom>
          <a:solidFill>
            <a:srgbClr val="FFF4E3"/>
          </a:solidFill>
          <a:ln w="12700">
            <a:solidFill>
              <a:srgbClr val="E8D9B6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230368" y="480060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C77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따라서 D/r₀ table의 D는 15 cm이고, Airy/bucket geometry의 D는 2.048 mm internal pupil 근사와 연결된다.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548640" y="6419088"/>
            <a:ext cx="9784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Source: generate_data_distance_sweep.py, train_distance_sweep.sh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0881360" y="640080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4/11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난류 regime과 quantity 정의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15400" y="25603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D/r₀와 σ_R²는 분류량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713232"/>
            <a:ext cx="11064240" cy="0"/>
          </a:xfrm>
          <a:prstGeom prst="line">
            <a:avLst/>
          </a:prstGeom>
          <a:noFill/>
          <a:ln w="12700">
            <a:solidFill>
              <a:srgbClr val="D7E2EB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47548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거리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0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D/r₀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0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σ_R²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0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분류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09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100 m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1.26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0.01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weak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500 m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3.31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0.28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moderate / strong onset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 km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5.02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1.00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moderate / strong onset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 km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7.61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3.55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strong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 km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9.70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7.46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strong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806440" y="1097280"/>
            <a:ext cx="5486400" cy="1828800"/>
          </a:xfrm>
          <a:prstGeom prst="roundRect">
            <a:avLst>
              <a:gd name="adj" fmla="val 2500"/>
            </a:avLst>
          </a:prstGeom>
          <a:solidFill>
            <a:srgbClr val="EAF4FB"/>
          </a:solidFill>
          <a:ln w="12700">
            <a:solidFill>
              <a:srgbClr val="C8DCE8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71032" y="12161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609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식은 어떻게 읽을까?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80760" y="1572768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334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r₀ = (0.423 k² Cn² L)^(-3/5),   σ_R² = 1.23 Cn² k^(7/6) L^(11/6)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126480" y="2011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slide의 역할은 turbulence strength를 분류하는 것이다. D2NN가 무엇을 '증명했다'고 읽는 slide가 아니다.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806440" y="3246120"/>
            <a:ext cx="5486400" cy="2057400"/>
          </a:xfrm>
          <a:prstGeom prst="roundRect">
            <a:avLst>
              <a:gd name="adj" fmla="val 2222"/>
            </a:avLst>
          </a:prstGeom>
          <a:solidFill>
            <a:srgbClr val="EAF7EF"/>
          </a:solidFill>
          <a:ln w="12700">
            <a:solidFill>
              <a:srgbClr val="CDE3D3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71032" y="336499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609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발표에서 안전한 해석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062472" y="3657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 m는 weak 쪽에 가깝고, 2–3 km는 strong scintillation regime에 들어간다.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거리 증가와 함께 mean gain, variance reduction, minimum received power가 어떻게 움직이는지를 비교한다.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regime 이름은 결과 읽기의 배경 설명이지, 메커니즘 단정의 근거가 아니다.</a:t>
            </a:r>
            <a:endParaRPr lang="en-US" sz="1120" dirty="0"/>
          </a:p>
        </p:txBody>
      </p:sp>
      <p:sp>
        <p:nvSpPr>
          <p:cNvPr id="14" name="Text 11"/>
          <p:cNvSpPr/>
          <p:nvPr/>
        </p:nvSpPr>
        <p:spPr>
          <a:xfrm>
            <a:off x="548640" y="6419088"/>
            <a:ext cx="9784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Source: distance_sweep_summary.json; D/r₀ uses telescope aperture = 15 cm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0881360" y="640080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5/11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거리별 핵심 결과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15400" y="25603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absolute bucket power 기준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713232"/>
            <a:ext cx="11064240" cy="0"/>
          </a:xfrm>
          <a:prstGeom prst="line">
            <a:avLst/>
          </a:prstGeom>
          <a:noFill/>
          <a:ln w="12700">
            <a:solidFill>
              <a:srgbClr val="D7E2EB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15568"/>
          <a:ext cx="1106424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554480"/>
                <a:gridCol w="1554480"/>
                <a:gridCol w="1554480"/>
                <a:gridCol w="2880360"/>
                <a:gridCol w="1554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거리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0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Vac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0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Turb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0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D2NN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0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gain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0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throughput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09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100 m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405.6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382.1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728.4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91% (+2.80 dB)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99.6%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500 m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628.3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499.5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530.5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6.2% (+0.26 dB)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99.6%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 km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275.1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166.0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180.9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9.0% (+0.37 dB)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99.5%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 km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34.0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9.3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16.4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77% (+2.47 dB)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92.0%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 km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4.63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0.64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2.08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223% (+5.09 dB)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88.3%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" y="3794760"/>
            <a:ext cx="3383280" cy="1280160"/>
          </a:xfrm>
          <a:prstGeom prst="roundRect">
            <a:avLst>
              <a:gd name="adj" fmla="val 3571"/>
            </a:avLst>
          </a:prstGeom>
          <a:solidFill>
            <a:srgbClr val="EAF7EF"/>
          </a:solidFill>
          <a:ln w="12700">
            <a:solidFill>
              <a:srgbClr val="CDE3D3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87552" y="39776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E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mean gain이 거의 없는 구간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87552" y="431596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500 m–1 km는 +0.26 dB, +0.37 dB 수준이라 headline보다 error bar와 해석 문장이 더 중요하다.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4434840" y="3794760"/>
            <a:ext cx="3383280" cy="1280160"/>
          </a:xfrm>
          <a:prstGeom prst="roundRect">
            <a:avLst>
              <a:gd name="adj" fmla="val 3571"/>
            </a:avLst>
          </a:prstGeom>
          <a:solidFill>
            <a:srgbClr val="FFF4E3"/>
          </a:solidFill>
          <a:ln w="12700">
            <a:solidFill>
              <a:srgbClr val="E8D9B6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645152" y="39776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headline이 되는 구간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645152" y="43159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 km와 3 km는 mean gain 자체도 크고, minimum received power와 variance reduction도 같이 개선된다.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92440" y="3794760"/>
            <a:ext cx="3383280" cy="1280160"/>
          </a:xfrm>
          <a:prstGeom prst="roundRect">
            <a:avLst>
              <a:gd name="adj" fmla="val 3571"/>
            </a:avLst>
          </a:prstGeom>
          <a:solidFill>
            <a:srgbClr val="FBECEC"/>
          </a:solidFill>
          <a:ln w="12700">
            <a:solidFill>
              <a:srgbClr val="E7CACA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302752" y="39776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4A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weak regime 특이점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302752" y="431596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 m에서 D2NN bucket이 vacuum보다 커진다. 이건 energy gain이 아니라 bucket-relative mode reshaping으로 읽어야 한다.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548640" y="6419088"/>
            <a:ext cx="9784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Source: 0405 distance_sweep_summary.json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0881360" y="640080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6/11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6-panel 요약 figure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15400" y="25603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읽어야 하는가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713232"/>
            <a:ext cx="11064240" cy="0"/>
          </a:xfrm>
          <a:prstGeom prst="line">
            <a:avLst/>
          </a:prstGeom>
          <a:noFill/>
          <a:ln w="12700">
            <a:solidFill>
              <a:srgbClr val="D7E2EB"/>
            </a:solidFill>
            <a:prstDash val="solid"/>
          </a:ln>
        </p:spPr>
      </p:sp>
      <p:pic>
        <p:nvPicPr>
          <p:cNvPr id="6" name="Image 0" descr="/root/dj/D2NN/kim2026/autoresearch/runs/0405-distance-sweep-rawrp-f6p5mm/21_distance_sweep_summary_6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1637" y="932688"/>
            <a:ext cx="7003966" cy="4617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932688"/>
            <a:ext cx="11384280" cy="46177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2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5632704"/>
            <a:ext cx="10972800" cy="512064"/>
          </a:xfrm>
          <a:prstGeom prst="roundRect">
            <a:avLst>
              <a:gd name="adj" fmla="val 8929"/>
            </a:avLst>
          </a:prstGeom>
          <a:solidFill>
            <a:srgbClr val="EAF4FB"/>
          </a:solidFill>
          <a:ln w="12700">
            <a:solidFill>
              <a:srgbClr val="C8DCE8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4400" y="5797296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왼쪽 위/아래는 mean bucket power와 vacuum 대비 gain, 가운데는 gain이 strong regime로 갈수록 커지는 패턴, 오른쪽은 scintillation std와 output throughput을 함께 읽으면 된다.</a:t>
            </a:r>
            <a:endParaRPr lang="en-US" sz="1140" dirty="0"/>
          </a:p>
        </p:txBody>
      </p:sp>
      <p:sp>
        <p:nvSpPr>
          <p:cNvPr id="10" name="Text 7"/>
          <p:cNvSpPr/>
          <p:nvPr/>
        </p:nvSpPr>
        <p:spPr>
          <a:xfrm>
            <a:off x="548640" y="6419088"/>
            <a:ext cx="9784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 figure: 21_distance_sweep_summary_6panel.png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0881360" y="640080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7/11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 m에서 관측되는 mode reshaping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15400" y="25603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weak regime observation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713232"/>
            <a:ext cx="11064240" cy="0"/>
          </a:xfrm>
          <a:prstGeom prst="line">
            <a:avLst/>
          </a:prstGeom>
          <a:noFill/>
          <a:ln w="12700">
            <a:solidFill>
              <a:srgbClr val="D7E2EB"/>
            </a:solidFill>
            <a:prstDash val="solid"/>
          </a:ln>
        </p:spPr>
      </p:sp>
      <p:pic>
        <p:nvPicPr>
          <p:cNvPr id="6" name="Image 0" descr="/root/dj/D2NN/kim2026/autoresearch/runs/0405-distance-sweep-rawrp-f6p5mm/L100m/focal_raw_received_power/06_fig1_focal_plane_vacuum_vs_turbulent_vs_d2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7848" y="1097280"/>
            <a:ext cx="3376704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097280"/>
            <a:ext cx="6583680" cy="3383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2EB"/>
            </a:solidFill>
            <a:prstDash val="solid"/>
          </a:ln>
        </p:spPr>
      </p:sp>
      <p:pic>
        <p:nvPicPr>
          <p:cNvPr id="8" name="Image 1" descr="/root/dj/D2NN/kim2026/autoresearch/runs/0405-distance-sweep-rawrp-f6p5mm/L100m/focal_raw_received_power/15_phase_masks_5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380046"/>
            <a:ext cx="4023360" cy="89750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543800" y="1097280"/>
            <a:ext cx="402336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2E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543800" y="2743200"/>
            <a:ext cx="4023360" cy="1783080"/>
          </a:xfrm>
          <a:prstGeom prst="roundRect">
            <a:avLst>
              <a:gd name="adj" fmla="val 2564"/>
            </a:avLst>
          </a:prstGeom>
          <a:solidFill>
            <a:srgbClr val="EAF7EF"/>
          </a:solidFill>
          <a:ln w="12700">
            <a:solidFill>
              <a:srgbClr val="CDE3D3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754112" y="29077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E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수치 메모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754112" y="32461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vac 405.6 → d2nn 728.4 (+2.80 dB)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baseline WFE 361.4 nm, D2NN 372.9 nm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throughput 99.6% 유지</a:t>
            </a:r>
            <a:endParaRPr lang="en-US" sz="1120" dirty="0"/>
          </a:p>
        </p:txBody>
      </p:sp>
      <p:sp>
        <p:nvSpPr>
          <p:cNvPr id="13" name="Shape 9"/>
          <p:cNvSpPr/>
          <p:nvPr/>
        </p:nvSpPr>
        <p:spPr>
          <a:xfrm>
            <a:off x="685800" y="4709160"/>
            <a:ext cx="10881360" cy="1005840"/>
          </a:xfrm>
          <a:prstGeom prst="roundRect">
            <a:avLst>
              <a:gd name="adj" fmla="val 4545"/>
            </a:avLst>
          </a:prstGeom>
          <a:solidFill>
            <a:srgbClr val="FFF4E3"/>
          </a:solidFill>
          <a:ln w="12700">
            <a:solidFill>
              <a:srgbClr val="E8D9B6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914400" y="4983480"/>
            <a:ext cx="10378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안전한 해석: weak regime에서는 D2NN가 vacuum focal spot과 다른 mode profile을 만들어 10 μm bucket 안 에너지를 더 모으는 관측이 있다. 이것을 wavefront correction이나 energy creation으로 읽으면 안 된다.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48640" y="6419088"/>
            <a:ext cx="9784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Source: L100m focal plane / phase mask figures and results.json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10881360" y="640080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8/11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2–3 km에서 보이는 평균 gain과 fade-tail 변화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15400" y="25603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strong regime observation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713232"/>
            <a:ext cx="11064240" cy="0"/>
          </a:xfrm>
          <a:prstGeom prst="line">
            <a:avLst/>
          </a:prstGeom>
          <a:noFill/>
          <a:ln w="12700">
            <a:solidFill>
              <a:srgbClr val="D7E2EB"/>
            </a:solidFill>
            <a:prstDash val="solid"/>
          </a:ln>
        </p:spPr>
      </p:sp>
      <p:pic>
        <p:nvPicPr>
          <p:cNvPr id="6" name="Image 0" descr="/root/dj/D2NN/kim2026/autoresearch/runs/0405-distance-sweep-rawrp-f6p5mm/L3000m/focal_raw_received_power/06_fig1_focal_plane_vacuum_vs_turbulent_vs_d2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3464" y="1097280"/>
            <a:ext cx="3385472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097280"/>
            <a:ext cx="6583680" cy="3383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2EB"/>
            </a:solidFill>
            <a:prstDash val="solid"/>
          </a:ln>
        </p:spPr>
      </p:sp>
      <p:pic>
        <p:nvPicPr>
          <p:cNvPr id="8" name="Image 1" descr="/root/dj/D2NN/kim2026/autoresearch/runs/0405-distance-sweep-rawrp-f6p5mm/L3000m/focal_raw_received_power/15_phase_masks_5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380046"/>
            <a:ext cx="4023360" cy="89750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543800" y="1097280"/>
            <a:ext cx="402336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2EB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2743200"/>
          <a:ext cx="42976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64592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거리</a:t>
                      </a:r>
                      <a:endParaRPr lang="en-US" sz="103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0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std (turb→d2nn)</a:t>
                      </a:r>
                      <a:endParaRPr lang="en-US" sz="103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0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min power (turb→d2nn)</a:t>
                      </a:r>
                      <a:endParaRPr lang="en-US" sz="103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09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 km</a:t>
                      </a:r>
                      <a:endParaRPr lang="en-US" sz="103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3.68 → 2.90 dB</a:t>
                      </a:r>
                      <a:endParaRPr lang="en-US" sz="103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-20.6 → -13.6 dB</a:t>
                      </a:r>
                      <a:endParaRPr lang="en-US" sz="103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 km</a:t>
                      </a:r>
                      <a:endParaRPr lang="en-US" sz="103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5.00 → 3.61 dB</a:t>
                      </a:r>
                      <a:endParaRPr lang="en-US" sz="103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-23.7 → -15.6 dB</a:t>
                      </a:r>
                      <a:endParaRPr lang="en-US" sz="103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685800" y="4709160"/>
            <a:ext cx="10881360" cy="1005840"/>
          </a:xfrm>
          <a:prstGeom prst="roundRect">
            <a:avLst>
              <a:gd name="adj" fmla="val 4545"/>
            </a:avLst>
          </a:prstGeom>
          <a:solidFill>
            <a:srgbClr val="EAF4FB"/>
          </a:solidFill>
          <a:ln w="12700">
            <a:solidFill>
              <a:srgbClr val="C8DCE8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8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914400" y="4983480"/>
            <a:ext cx="10378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안전한 해석: strong regime에서는 D2NN가 held-out ensemble에서 mean bucket power뿐 아니라 low-tail received power와 variance에도 개선을 보인다. 이 slide는 'fade-tail compression 관측'까지가 안전한 표현이다.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48640" y="6419088"/>
            <a:ext cx="9784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Source: L3000m focal plane / phase mask figures and distance_sweep_summary.json</a:t>
            </a:r>
            <a:endParaRPr lang="en-US" sz="750" dirty="0"/>
          </a:p>
        </p:txBody>
      </p:sp>
      <p:sp>
        <p:nvSpPr>
          <p:cNvPr id="14" name="Text 9"/>
          <p:cNvSpPr/>
          <p:nvPr/>
        </p:nvSpPr>
        <p:spPr>
          <a:xfrm>
            <a:off x="10881360" y="640080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9/11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Objective와 f = 6.5 mm 설정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15400" y="25603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design choice rationale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713232"/>
            <a:ext cx="11064240" cy="0"/>
          </a:xfrm>
          <a:prstGeom prst="line">
            <a:avLst/>
          </a:prstGeom>
          <a:noFill/>
          <a:ln w="12700">
            <a:solidFill>
              <a:srgbClr val="D7E2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051560"/>
            <a:ext cx="5349240" cy="434340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D7E2EB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8952" y="1170432"/>
            <a:ext cx="5020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609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Raw RP loss인가?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572768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334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L = −log(E_bucket / E_input + ε)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vacuum reference가 없어도 absolute bucket power를 직접 최적화한다.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throughput 저하가 있으면 objective 자체가 같이 불리해진다.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따라서 PIB-only loss처럼 denominator를 줄여 점수를 높이는 경로가 상대적으로 약하다.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식은 'physics를 증명'하는 것이 아니라, 발표 목표 quantity와 직접 연결되는 objective다.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14400" y="4462272"/>
            <a:ext cx="1828800" cy="731520"/>
          </a:xfrm>
          <a:prstGeom prst="roundRect">
            <a:avLst>
              <a:gd name="adj" fmla="val 6250"/>
            </a:avLst>
          </a:prstGeom>
          <a:solidFill>
            <a:srgbClr val="EAF7EF"/>
          </a:solidFill>
          <a:ln w="12700">
            <a:solidFill>
              <a:srgbClr val="CDE3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4526280"/>
            <a:ext cx="160934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D2NN throughput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24128" y="4745736"/>
            <a:ext cx="1609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8E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88.3–99.6%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5349240" cy="4343400"/>
          </a:xfrm>
          <a:prstGeom prst="roundRect">
            <a:avLst>
              <a:gd name="adj" fmla="val 1053"/>
            </a:avLst>
          </a:prstGeom>
          <a:solidFill>
            <a:srgbClr val="EAF4FB"/>
          </a:solidFill>
          <a:ln w="12700">
            <a:solidFill>
              <a:srgbClr val="C7DDEB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82512" y="1170432"/>
            <a:ext cx="5020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609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f = 6.5 mm인가?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572768"/>
          <a:ext cx="47548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280160"/>
                <a:gridCol w="1920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설정</a:t>
                      </a:r>
                      <a:endParaRPr lang="en-US" sz="10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0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Airy radius</a:t>
                      </a:r>
                      <a:endParaRPr lang="en-US" sz="10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0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10 μm bucket / Airy</a:t>
                      </a:r>
                      <a:endParaRPr lang="en-US" sz="10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09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f = 4.5 mm</a:t>
                      </a:r>
                      <a:endParaRPr lang="en-US" sz="10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4.16 μm</a:t>
                      </a:r>
                      <a:endParaRPr lang="en-US" sz="10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2.41 Airy radii</a:t>
                      </a:r>
                      <a:endParaRPr lang="en-US" sz="10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f = 6.5 mm</a:t>
                      </a:r>
                      <a:endParaRPr lang="en-US" sz="10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6.00 μm</a:t>
                      </a:r>
                      <a:endParaRPr lang="en-US" sz="10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6233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1.67 Airy radii</a:t>
                      </a:r>
                      <a:endParaRPr lang="en-US" sz="10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6537960" y="297180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1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 = 4.5 mm에서는 10 μm bucket이 diffraction-limited core를 이미 넓게 포함한다.</a:t>
            </a:r>
            <a:endParaRPr lang="en-US" sz="1110" dirty="0"/>
          </a:p>
          <a:p>
            <a:pPr marL="342900" indent="-342900">
              <a:buSzPct val="100000"/>
              <a:buChar char="•"/>
            </a:pPr>
            <a:r>
              <a:rPr lang="en-US" sz="111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 = 6.5 mm에서는 bucket / Airy ratio가 더 타이트해져 mode reshaping headroom이 커진다.</a:t>
            </a:r>
            <a:endParaRPr lang="en-US" sz="1110" dirty="0"/>
          </a:p>
          <a:p>
            <a:pPr marL="342900" indent="-342900">
              <a:buSzPct val="100000"/>
              <a:buChar char="•"/>
            </a:pPr>
            <a:r>
              <a:rPr lang="en-US" sz="111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slide 역시 'bandwidth가 더 잘 맞는다'를 증명하는 것이 아니라 geometry가 더 타이트해졌다는 수준으로만 읽는다.</a:t>
            </a:r>
            <a:endParaRPr lang="en-US" sz="1110" dirty="0"/>
          </a:p>
        </p:txBody>
      </p:sp>
      <p:sp>
        <p:nvSpPr>
          <p:cNvPr id="17" name="Text 14"/>
          <p:cNvSpPr/>
          <p:nvPr/>
        </p:nvSpPr>
        <p:spPr>
          <a:xfrm>
            <a:off x="548640" y="6419088"/>
            <a:ext cx="9784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Source: train_distance_sweep.sh, results.json, Airy calculation from internal pupil geometry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0881360" y="640080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10/11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한계와 다음 검증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15400" y="25603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이번 deck의 멈춤선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713232"/>
            <a:ext cx="11064240" cy="0"/>
          </a:xfrm>
          <a:prstGeom prst="line">
            <a:avLst/>
          </a:prstGeom>
          <a:noFill/>
          <a:ln w="12700">
            <a:solidFill>
              <a:srgbClr val="D7E2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51560"/>
            <a:ext cx="5440680" cy="4343400"/>
          </a:xfrm>
          <a:prstGeom prst="roundRect">
            <a:avLst>
              <a:gd name="adj" fmla="val 1053"/>
            </a:avLst>
          </a:prstGeom>
          <a:solidFill>
            <a:srgbClr val="FBECEC"/>
          </a:solidFill>
          <a:ln w="12700">
            <a:solidFill>
              <a:srgbClr val="E8CACA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170432"/>
            <a:ext cx="5111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609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deck에서 반드시 남겨둘 caveat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47548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3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거리의 held-out test는 200 samples이며, strong-tail percentile을 안정적으로 말하기엔 적다.</a:t>
            </a:r>
            <a:endParaRPr lang="en-US" sz="1130" dirty="0"/>
          </a:p>
          <a:p>
            <a:pPr marL="342900" indent="-342900">
              <a:buSzPct val="100000"/>
              <a:buChar char="•"/>
            </a:pPr>
            <a:r>
              <a:rPr lang="en-US" sz="113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higher-order WFE baseline은 361–452 nm 범위로 여전히 크다. 전체 sweep을 하나의 "~442 nm unchanged" 문장으로 축약하면 안 된다.</a:t>
            </a:r>
            <a:endParaRPr lang="en-US" sz="1130" dirty="0"/>
          </a:p>
          <a:p>
            <a:pPr marL="342900" indent="-342900">
              <a:buSzPct val="100000"/>
              <a:buChar char="•"/>
            </a:pPr>
            <a:r>
              <a:rPr lang="en-US" sz="113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bucket power는 SMF mode overlap이나 finite-NA detector collected power를 직접 모델링한 값이 아니다.</a:t>
            </a:r>
            <a:endParaRPr lang="en-US" sz="1130" dirty="0"/>
          </a:p>
          <a:p>
            <a:pPr marL="342900" indent="-342900">
              <a:buSzPct val="100000"/>
              <a:buChar char="•"/>
            </a:pPr>
            <a:r>
              <a:rPr lang="en-US" sz="113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 m의 vacuum 초과 bucket은 real lens baseline과 relay optics 모델을 더 넣어 다시 검증할 필요가 있다.</a:t>
            </a:r>
            <a:endParaRPr lang="en-US" sz="1130" dirty="0"/>
          </a:p>
          <a:p>
            <a:pPr marL="342900" indent="-342900">
              <a:buSzPct val="100000"/>
              <a:buChar char="•"/>
            </a:pPr>
            <a:r>
              <a:rPr lang="en-US" sz="113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static phase-only mask이 sample-wise random wavefront를 복원한다는 식의 문장은 금지한다.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6355080" y="1051560"/>
            <a:ext cx="5212080" cy="4343400"/>
          </a:xfrm>
          <a:prstGeom prst="roundRect">
            <a:avLst>
              <a:gd name="adj" fmla="val 1053"/>
            </a:avLst>
          </a:prstGeom>
          <a:solidFill>
            <a:srgbClr val="EAF4FB"/>
          </a:solidFill>
          <a:ln w="12700">
            <a:solidFill>
              <a:srgbClr val="C7DDEB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19672" y="1170432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609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검증 우선순위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29400" y="146304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3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bucket radius / detector plane sweep: 10, 25, 50, 100 μm와 detector distance를 같이 바꿔 민감도를 본다.</a:t>
            </a:r>
            <a:endParaRPr lang="en-US" sz="1130" dirty="0"/>
          </a:p>
          <a:p>
            <a:pPr marL="342900" indent="-342900">
              <a:buSzPct val="100000"/>
              <a:buChar char="•"/>
            </a:pPr>
            <a:r>
              <a:rPr lang="en-US" sz="113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thin-lens or real-lens baseline 추가: 100 m weak regime에서 'super-vacuum' 관측을 재검증한다.</a:t>
            </a:r>
            <a:endParaRPr lang="en-US" sz="1130" dirty="0"/>
          </a:p>
          <a:p>
            <a:pPr marL="342900" indent="-342900">
              <a:buSzPct val="100000"/>
              <a:buChar char="•"/>
            </a:pPr>
            <a:r>
              <a:rPr lang="en-US" sz="113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SMF/MMF coupling efficiency 또는 finite-NA collected power를 추가해 수신기 의미를 강화한다.</a:t>
            </a:r>
            <a:endParaRPr lang="en-US" sz="1130" dirty="0"/>
          </a:p>
          <a:p>
            <a:pPr marL="342900" indent="-342900">
              <a:buSzPct val="100000"/>
              <a:buChar char="•"/>
            </a:pPr>
            <a:r>
              <a:rPr lang="en-US" sz="1130" dirty="0">
                <a:solidFill>
                  <a:srgbClr val="16233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tail statistics용 test set 확장: strong regime percentile claim은 더 큰 sample 수에서 다시 본다.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6629400" y="4526280"/>
            <a:ext cx="4526280" cy="621792"/>
          </a:xfrm>
          <a:prstGeom prst="roundRect">
            <a:avLst>
              <a:gd name="adj" fmla="val 7353"/>
            </a:avLst>
          </a:prstGeom>
          <a:solidFill>
            <a:srgbClr val="EAF7EF"/>
          </a:solidFill>
          <a:ln w="12700">
            <a:solidFill>
              <a:srgbClr val="CDE3D3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12280" y="4754880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8E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결론: 'absolute bucket power 개선'과 'fade-tail 개선 관측'까지는 말할 수 있다.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6419088"/>
            <a:ext cx="9784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Stop line: overclaim 대신 next validation list를 남긴다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881360" y="640080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11/11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D2NN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0405 Distance Sweep Seminar (Korean)</dc:title>
  <dc:subject>Distance sweep seminar deck</dc:subject>
  <dc:creator>D2NN Lab</dc:creator>
  <cp:lastModifiedBy>D2NN Lab</cp:lastModifiedBy>
  <cp:revision>1</cp:revision>
  <dcterms:created xsi:type="dcterms:W3CDTF">2026-04-06T06:03:10Z</dcterms:created>
  <dcterms:modified xsi:type="dcterms:W3CDTF">2026-04-06T06:03:10Z</dcterms:modified>
</cp:coreProperties>
</file>