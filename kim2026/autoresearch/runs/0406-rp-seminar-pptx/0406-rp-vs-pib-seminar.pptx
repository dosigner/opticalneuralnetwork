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ΔRP vs turbulent (%)</c:v>
                </c:pt>
              </c:strCache>
            </c:strRef>
          </c:tx>
          <c:spPr>
            <a:solidFill>
              <a:srgbClr val="1F8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0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AbsBkt+CO</c:v>
                  </c:pt>
                  <c:pt idx="1">
                    <c:v>PIB+HardTP</c:v>
                  </c:pt>
                  <c:pt idx="2">
                    <c:v>TP-PIB 0.5</c:v>
                  </c:pt>
                  <c:pt idx="3">
                    <c:v>TP-PIB 2.0</c:v>
                  </c:pt>
                  <c:pt idx="4">
                    <c:v>Raw 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5.77</c:v>
                </c:pt>
                <c:pt idx="1">
                  <c:v>6.1</c:v>
                </c:pt>
                <c:pt idx="2">
                  <c:v>5.54</c:v>
                </c:pt>
                <c:pt idx="3">
                  <c:v>6.09</c:v>
                </c:pt>
                <c:pt idx="4">
                  <c:v>6.37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0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7C8F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5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7C8F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033"/>
                </a:solidFill>
                <a:latin typeface="DejaVu Sans"/>
              </a:defRPr>
            </a:pPr>
            <a:r>
              <a:rPr sz="1100" b="0" i="0" u="none" strike="noStrike">
                <a:solidFill>
                  <a:srgbClr val="102033"/>
                </a:solidFill>
                <a:latin typeface="DejaVu Sans"/>
              </a:rPr>
              <a:t>PIB@10um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PIB@10um (%)</c:v>
                </c:pt>
              </c:strCache>
            </c:strRef>
          </c:tx>
          <c:spPr>
            <a:solidFill>
              <a:srgbClr val="275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Turbulent</c:v>
                  </c:pt>
                  <c:pt idx="1">
                    <c:v>AbsBkt+CO</c:v>
                  </c:pt>
                  <c:pt idx="2">
                    <c:v>PIB+HardTP</c:v>
                  </c:pt>
                  <c:pt idx="3">
                    <c:v>TP-PIB 0.5</c:v>
                  </c:pt>
                  <c:pt idx="4">
                    <c:v>TP-PIB 2.0</c:v>
                  </c:pt>
                  <c:pt idx="5">
                    <c:v>Raw RP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77.11</c:v>
                </c:pt>
                <c:pt idx="1">
                  <c:v>80.52</c:v>
                </c:pt>
                <c:pt idx="2">
                  <c:v>80.42</c:v>
                </c:pt>
                <c:pt idx="3">
                  <c:v>81.32</c:v>
                </c:pt>
                <c:pt idx="4">
                  <c:v>80.41</c:v>
                </c:pt>
                <c:pt idx="5">
                  <c:v>80.83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A7C8F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3"/>
          <c:min val="74"/>
        </c:scaling>
        <c:delete val="0"/>
        <c:axPos val="l"/>
        <c:majorGridlines>
          <c:spPr>
            <a:ln w="6350" cap="flat">
              <a:solidFill>
                <a:srgbClr val="D5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7C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033"/>
                </a:solidFill>
                <a:latin typeface="DejaVu Sans"/>
              </a:defRPr>
            </a:pPr>
            <a:r>
              <a:rPr sz="1100" b="0" i="0" u="none" strike="noStrike">
                <a:solidFill>
                  <a:srgbClr val="102033"/>
                </a:solidFill>
                <a:latin typeface="DejaVu Sans"/>
              </a:rPr>
              <a:t>RP@10um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RP@10um</c:v>
                </c:pt>
              </c:strCache>
            </c:strRef>
          </c:tx>
          <c:spPr>
            <a:solidFill>
              <a:srgbClr val="1F8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Turbulent</c:v>
                  </c:pt>
                  <c:pt idx="1">
                    <c:v>AbsBkt+CO</c:v>
                  </c:pt>
                  <c:pt idx="2">
                    <c:v>PIB+HardTP</c:v>
                  </c:pt>
                  <c:pt idx="3">
                    <c:v>TP-PIB 0.5</c:v>
                  </c:pt>
                  <c:pt idx="4">
                    <c:v>TP-PIB 2.0</c:v>
                  </c:pt>
                  <c:pt idx="5">
                    <c:v>Raw RP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212.04</c:v>
                </c:pt>
                <c:pt idx="1">
                  <c:v>224.28</c:v>
                </c:pt>
                <c:pt idx="2">
                  <c:v>224.97</c:v>
                </c:pt>
                <c:pt idx="3">
                  <c:v>223.78</c:v>
                </c:pt>
                <c:pt idx="4">
                  <c:v>224.96</c:v>
                </c:pt>
                <c:pt idx="5">
                  <c:v>225.54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A7C8F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7"/>
          <c:min val="210"/>
        </c:scaling>
        <c:delete val="0"/>
        <c:axPos val="l"/>
        <c:majorGridlines>
          <c:spPr>
            <a:ln w="6350" cap="flat">
              <a:solidFill>
                <a:srgbClr val="D5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7C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02033"/>
                </a:solidFill>
                <a:latin typeface="DejaVu Sans"/>
              </a:defRPr>
            </a:pPr>
            <a:r>
              <a:rPr sz="1050" b="0" i="0" u="none" strike="noStrike">
                <a:solidFill>
                  <a:srgbClr val="102033"/>
                </a:solidFill>
                <a:latin typeface="DejaVu Sans"/>
              </a:rPr>
              <a:t>Raw RP gain by bucket radius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 vs turbulent (%)</c:v>
                </c:pt>
              </c:strCache>
            </c:strRef>
          </c:tx>
          <c:spPr>
            <a:solidFill>
              <a:srgbClr val="6D5A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5um</c:v>
                  </c:pt>
                  <c:pt idx="1">
                    <c:v>10um</c:v>
                  </c:pt>
                  <c:pt idx="2">
                    <c:v>25um</c:v>
                  </c:pt>
                  <c:pt idx="3">
                    <c:v>50um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11.21</c:v>
                </c:pt>
                <c:pt idx="1">
                  <c:v>6.37</c:v>
                </c:pt>
                <c:pt idx="2">
                  <c:v>1.83</c:v>
                </c:pt>
                <c:pt idx="3">
                  <c:v>1.46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7C8F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5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7C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Static D2NN for FSO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7F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PIB보다 Received Power가 더 중요하다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0" cy="0"/>
          </a:xfrm>
          <a:prstGeom prst="line">
            <a:avLst/>
          </a:prstGeom>
          <a:noFill/>
          <a:ln w="31750">
            <a:solidFill>
              <a:srgbClr val="5FA7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0403 loss sweep의 수치와 0404 physics report의 해석을 하나의 세미나 흐름으로 재구성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핵심 질문: 10 um focal bucket 안 absolute received power가 실제로 증가했는가</a:t>
            </a:r>
            <a:endParaRPr lang="en-US" sz="1320" dirty="0"/>
          </a:p>
          <a:p>
            <a:pPr marL="342900" indent="-3429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결론: TP-preserving losses만 baseline을 넘고, Raw RP loss가 +6.37%로 최고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635240" y="1051560"/>
            <a:ext cx="3657600" cy="3429000"/>
          </a:xfrm>
          <a:prstGeom prst="roundRect">
            <a:avLst>
              <a:gd name="adj" fmla="val 1600"/>
            </a:avLst>
          </a:prstGeom>
          <a:solidFill>
            <a:srgbClr val="173149"/>
          </a:solidFill>
          <a:ln w="12700">
            <a:solidFill>
              <a:srgbClr val="2D516C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1078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7C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Core Numbers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0" y="1572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Vacuum PIB@10um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0" y="15453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96.0%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35240" y="20299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Turbulent PIB@10um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20025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77.1%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2487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Vacuum RP@10um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0" y="24597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277.17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Turbulent RP@10um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29169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212.04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35240" y="3401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ΔRP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33741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9FBC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+6.37%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Sources: 0403 cross-strategy summary, 0404 loss strategy report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Question and Setup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0403/0404 seminar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5486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1645920"/>
            <a:ext cx="6583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TX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600200" y="1819656"/>
            <a:ext cx="100584" cy="10972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1645920"/>
            <a:ext cx="6583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9656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km turbulence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478024" y="1819656"/>
            <a:ext cx="100584" cy="10972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645920"/>
            <a:ext cx="6583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150 mm telescope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355848" y="1819656"/>
            <a:ext cx="100584" cy="10972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9584" y="1645920"/>
            <a:ext cx="6583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5-layer D2NN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233672" y="1819656"/>
            <a:ext cx="100584" cy="10972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7408" y="1645920"/>
            <a:ext cx="65836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 = 4.5 mm lens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111496" y="1819656"/>
            <a:ext cx="100584" cy="10972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1645920"/>
            <a:ext cx="658368" cy="502920"/>
          </a:xfrm>
          <a:prstGeom prst="roundRect">
            <a:avLst>
              <a:gd name="adj" fmla="val 7273"/>
            </a:avLst>
          </a:prstGeom>
          <a:solidFill>
            <a:srgbClr val="E7F7EE"/>
          </a:solidFill>
          <a:ln w="12700">
            <a:solidFill>
              <a:srgbClr val="1F8A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 um bucket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822960" y="26060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Wavelength 1.55 um, distance 1 km, Cn^2 = 5e-14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Detector proxy는 focal plane 10 um fiber bucket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Vacuum PIB@10um = 95.98%, turbulent PIB@10um = 77.11%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Vacuum RP@10um = 277.17, turbulent RP@10um = 212.04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따라서 회복해야 할 absolute headroom은 65.12 units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960120"/>
            <a:ext cx="5349240" cy="4892040"/>
          </a:xfrm>
          <a:prstGeom prst="roundRect">
            <a:avLst>
              <a:gd name="adj" fmla="val 1121"/>
            </a:avLst>
          </a:prstGeom>
          <a:solidFill>
            <a:srgbClr val="EAF3F8"/>
          </a:solidFill>
          <a:ln w="12700">
            <a:solidFill>
              <a:srgbClr val="C6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Working Question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08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정적 phase-only D2NN가 sample-wise wavefront를 복원하지 못하더라도,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ensemble level에서 central bucket 안 absolute power를 조금 더 밀어 넣을 수 있는가?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92240" y="2788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이번 발표는 'PIB가 올라갔다'가 아니라 'RP가 실제로 늘었는가'를 기준으로 모든 loss를 다시 읽는다.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3886200"/>
            <a:ext cx="4526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56832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Main Thesis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56832" y="4297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Normalized PIB alone can invert the ranking.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Received Power plus Throughput gives the physically honest ordering.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0403 cross-strategy summary JSON and 0404 system-parameter section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Why PIB Can Mislead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 definitions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97280"/>
            <a:ext cx="2971800" cy="1828800"/>
          </a:xfrm>
          <a:prstGeom prst="roundRect">
            <a:avLst>
              <a:gd name="adj" fmla="val 3000"/>
            </a:avLst>
          </a:prstGeom>
          <a:solidFill>
            <a:srgbClr val="EFF6FB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216152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1097280"/>
            <a:ext cx="2971800" cy="1828800"/>
          </a:xfrm>
          <a:prstGeom prst="roundRect">
            <a:avLst>
              <a:gd name="adj" fmla="val 3000"/>
            </a:avLst>
          </a:prstGeom>
          <a:solidFill>
            <a:srgbClr val="EEF8F1"/>
          </a:solidFill>
          <a:ln w="12700">
            <a:solidFill>
              <a:srgbClr val="CFE4D5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216152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Received Power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1097280"/>
            <a:ext cx="2971800" cy="1828800"/>
          </a:xfrm>
          <a:prstGeom prst="roundRect">
            <a:avLst>
              <a:gd name="adj" fmla="val 3000"/>
            </a:avLst>
          </a:prstGeom>
          <a:solidFill>
            <a:srgbClr val="FFF5E9"/>
          </a:solidFill>
          <a:ln w="12700">
            <a:solidFill>
              <a:srgbClr val="E9D6B7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08392" y="1216152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Throughput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5D8C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Bucket energy / total energy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75D8C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ratio metric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9392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8A54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Absolute energy inside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8A54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10 um focal bucket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54112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7B2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Output energy / input energy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57B2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preservation ratio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383280"/>
            <a:ext cx="10149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4A4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RP ≈ PIB × TP × E_in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40965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PIB-only loss는 denominator를 줄이는 방향으로도 숫자를 올릴 수 있다. 즉 '더 잘 모았다'가 아니라 '나머지를 더 많이 버렸다'가 가능하다.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5166360"/>
            <a:ext cx="9235440" cy="822960"/>
          </a:xfrm>
          <a:prstGeom prst="roundRect">
            <a:avLst>
              <a:gd name="adj" fmla="val 6667"/>
            </a:avLst>
          </a:prstGeom>
          <a:solidFill>
            <a:srgbClr val="FFF3F0"/>
          </a:solidFill>
          <a:ln w="12700">
            <a:solidFill>
              <a:srgbClr val="E5C5BF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54223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4A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0404의 결론: TP를 명시적으로 묶지 않으면 PIB gain은 catastrophic throughput collapse를 숨길 수 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0404 'The Fundamental Problem: PIB vs Received Power'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0403 Loss Space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same data, different objectives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7452360" cy="3200400"/>
        </p:xfrm>
        <a:graphic>
          <a:graphicData uri="http://schemas.openxmlformats.org/drawingml/2006/table">
            <a:tbl>
              <a:tblPr/>
              <a:tblGrid>
                <a:gridCol w="1508760"/>
                <a:gridCol w="3063240"/>
                <a:gridCol w="868680"/>
                <a:gridCol w="8686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Strategy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Core objective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TP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PIB10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RP10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AbsBucket+CO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absolute bucket + CO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98.30%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80.52%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224.28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PIB+HardTP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 + quadratic TP penalty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98.92%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80.42%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224.97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TP-PIB w=0.5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 + weak TP penalty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96.94%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81.32%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223.78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TP-PIB w=2.0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 + strong TP penalty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98.93%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80.41%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224.96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Raw RP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-log(E_b / E_in)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98.59%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80.83%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225.54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097280"/>
            <a:ext cx="3063240" cy="3200400"/>
          </a:xfrm>
          <a:prstGeom prst="roundRect">
            <a:avLst>
              <a:gd name="adj" fmla="val 1791"/>
            </a:avLst>
          </a:prstGeom>
          <a:solidFill>
            <a:srgbClr val="EAF3F8"/>
          </a:solidFill>
          <a:ln w="12700">
            <a:solidFill>
              <a:srgbClr val="C7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13648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13648" y="160020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0403에서는 optical setup과 data가 동일하고 loss만 바뀐다.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따라서 성능 차이는 metric design의 효과로 직접 읽을 수 있다.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모든 successful strategy는 TP를 97% 이상으로 유지한다.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RP가 가장 직접적인 objective이고 실제로 최고 RP10을 만든다.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4754880"/>
            <a:ext cx="10835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97280" y="5029200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같은 80%대 PIB라도 RP는 223.78~225.54 범위로 갈린다. 0403의 포인트는 'PIB가 아니라 RP 기준으로 다시 정렬해야 한다'는 점이다.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0403 cross-strategy summary JSON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Cross-Strategy Result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0403 main result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pic>
        <p:nvPicPr>
          <p:cNvPr id="6" name="Image 0" descr="/root/dj/D2NN/kim2026/autoresearch/runs/0403-combined-6strat-pitchrescale-cn2-5e14/19_cross_strategy_received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21019"/>
            <a:ext cx="6675120" cy="21988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05840"/>
            <a:ext cx="6675120" cy="5029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1005840"/>
            <a:ext cx="4069080" cy="50292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11704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26680" y="15544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 is best: RP10 225.54 (6.37% gain).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PIB+HardTP and TP-PIB w=2.0 are near-tied at 6.10% and 6.09%.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TP-PIB w=0.5 has the highest PIB10 (81.32%) but the lowest RP gain.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TP-preserving objectives all exceed the turbulent baseline.</a:t>
            </a:r>
            <a:endParaRPr lang="en-US" sz="113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662672" y="3913632"/>
          <a:ext cx="36118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Figure: 19_cross_strategy_received_power.png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Rank by RP, Not by PIB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 ordering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94360" y="1143000"/>
          <a:ext cx="5440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99632" y="114300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1188720" y="5532120"/>
            <a:ext cx="9829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417320" y="571500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왼쪽 그래프만 보면 TP-PIB w=0.5가 가장 좋아 보이지만, 오른쪽 RP ordering에서는 Raw RP가 최고다. 이것이 metric inversion이다.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0403 summary JSON; same data, same optics, only objective changes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What the Best Strategy Actually Does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 focal pattern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pic>
        <p:nvPicPr>
          <p:cNvPr id="6" name="Image 0" descr="/root/dj/D2NN/kim2026/autoresearch/runs/0403-combined-6strat-pitchrescale-cn2-5e14/focal_raw_received_power/06_fig1_focal_plane_vacuum_vs_turbulent_vs_d2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815" y="960120"/>
            <a:ext cx="5271426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960120"/>
            <a:ext cx="7315200" cy="5257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960120"/>
            <a:ext cx="3429000" cy="52578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66760" y="132588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Vacuum sets the ceiling: PIB10 95.98%, RP10 277.17.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Turbulent baseline sits at PIB10 77.11%, RP10 212.04.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 reaches PIB10 80.83% and RP10 225.54.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핵심 변화는 vacuum restoration이 아니라 central bucket 안으로 에너지를 조금 더 밀어 넣는 focal redistribution이다.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366760" y="416052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 w="12700">
            <a:solidFill>
              <a:srgbClr val="C7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549640" y="43251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49640" y="4599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strategy도 vacuum에 가깝게 돌아가진 않는다. modest한 +6% gain은 오히려 물리적으로 더 정직한 결과다.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Figure: focal_raw_received_power/06_fig1_focal_plane_vacuum_vs_turbulent_vs_d2nn.png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Improvement Is Distributional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 histogram and bucket-radius gains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pic>
        <p:nvPicPr>
          <p:cNvPr id="6" name="Image 0" descr="/root/dj/D2NN/kim2026/autoresearch/runs/0403-combined-6strat-pitchrescale-cn2-5e14/focal_raw_received_power/18_received_power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06002"/>
            <a:ext cx="6629400" cy="43831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1005840"/>
            <a:ext cx="6629400" cy="4983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543800" y="1234440"/>
          <a:ext cx="36576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543800" y="406908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754112" y="4297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5um improvement is largest: +11.21%.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10um objective improves by +6.37%.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25um and 50um gains shrink to +1.83% and +1.46%.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즉 total energy increase가 아니라 core tightening이 주효하다.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Figure: focal_raw_received_power/18_received_power_histogram.png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Why This Is Not Wavefront Correction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WF RMS and Zernike evidence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pic>
        <p:nvPicPr>
          <p:cNvPr id="6" name="Image 0" descr="/root/dj/D2NN/kim2026/autoresearch/runs/0403-combined-6strat-pitchrescale-cn2-5e14/focal_raw_received_power/14_zernike_delta_per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52644"/>
            <a:ext cx="6355080" cy="35069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143000"/>
            <a:ext cx="63550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143000"/>
            <a:ext cx="4160520" cy="452628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9792" y="1325880"/>
          <a:ext cx="3703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Metric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Turbulent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D2NN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WFRMS global-phase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368.94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368.63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WFRMS piston-removed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367.18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367.09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WFRMS tip/tilt removed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328.07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331.38</a:t>
                      </a:r>
                      <a:endParaRPr lang="en-US" sz="9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479792" y="306324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Global-phase aligned WFRMS is 368.94 nm -&gt; 368.63 nm, essentially unchanged.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Tip/tilt removed RMS even increases slightly.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Zernike delta per mode stays near zero rather than showing a correction signature.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따라서 이 장치는 adaptive corrector가 아니라 statistical mode filter로 읽는 편이 정확하다.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Sources: focal_raw_received_power/10_piston_removed_wfrms.json and /14_zernike_delta_per_mode.png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Physical Mechanism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TP-preserving focal energy redistribution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pic>
        <p:nvPicPr>
          <p:cNvPr id="6" name="Image 0" descr="/root/dj/D2NN/kim2026/autoresearch/runs/0403-combined-6strat-pitchrescale-cn2-5e14/focal_raw_received_power/15_phase_masks_5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86553"/>
            <a:ext cx="5715000" cy="12220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097280"/>
            <a:ext cx="571500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0" y="1097280"/>
            <a:ext cx="489204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31152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the masks suggest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31152" y="164592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TP-preserving strategies learn mostly smooth, low-spatial-frequency phase profiles.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Sharp grating signatures that would support strong scattering are not dominant.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이 패턴은 TP 98%대 유지와 잘 맞고, aggressive energy dumping과는 다르다.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0404의 해석처럼 weak Fresnel-lens-like redistribution 또는 statistical mode filtering에 가깝다.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931152" y="4251960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 w="12700">
            <a:solidFill>
              <a:srgbClr val="C7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0" y="44348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Operational reading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32320" y="4681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Wavefront conjugation보다 focal core와 halo 사이의 ensemble-average energy reshaping으로 보는 편이 맞다.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Figure: focal_raw_received_power/15_phase_masks_5layers.png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0404 Interpretation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PIB-only objectives fail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3108960" cy="3383280"/>
          </a:xfrm>
          <a:prstGeom prst="roundRect">
            <a:avLst>
              <a:gd name="adj" fmla="val 1765"/>
            </a:avLst>
          </a:prstGeom>
          <a:solidFill>
            <a:srgbClr val="FFF3F0"/>
          </a:solidFill>
          <a:ln w="12700">
            <a:solidFill>
              <a:srgbClr val="E5C5BF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53619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4A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PIB-only loophole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44568" y="1417320"/>
            <a:ext cx="3108960" cy="3383280"/>
          </a:xfrm>
          <a:prstGeom prst="roundRect">
            <a:avLst>
              <a:gd name="adj" fmla="val 1765"/>
            </a:avLst>
          </a:prstGeom>
          <a:solidFill>
            <a:srgbClr val="EEF8F1"/>
          </a:solidFill>
          <a:ln w="12700">
            <a:solidFill>
              <a:srgbClr val="CFE4D5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53619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TP-aware closure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11896" y="1417320"/>
            <a:ext cx="3108960" cy="3383280"/>
          </a:xfrm>
          <a:prstGeom prst="roundRect">
            <a:avLst>
              <a:gd name="adj" fmla="val 1765"/>
            </a:avLst>
          </a:prstGeom>
          <a:solidFill>
            <a:srgbClr val="EFF6FB"/>
          </a:solidFill>
          <a:ln w="12700">
            <a:solidFill>
              <a:srgbClr val="C8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76488" y="153619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Observed attractor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7552" y="18288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Phase-only layers are pointwise unitary, but cascaded propagation can still redistribute energy angularly.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Finite computational window plus diffraction lets the model scatter aberrated energy out of the effective passband.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Then PIB rises because the denominator shrinks, even if RP falls.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Absolute-bucket and TP-penalized objectives make scattering expensive.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Now the optimizer must keep energy while improving concentration.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That is why successful strategies all stay near TP ≈ 0.98–0.99.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22208" y="18288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Different TP-aware formulas converge to roughly the same +6% RP regime.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This suggests a physical limit of the static phase-only architecture in this turbulence regime.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Objective shape matters less once the TP operating point is fixed.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874520" y="5212080"/>
            <a:ext cx="8458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5440680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0404의 요약: PIB는 단독 metric으로 쓰면 misleading하고, direct RP objective 또는 explicit TP constraint가 필요하다.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0404 sections on throughput catastrophe, TP-aware losses, and conclusions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How To Phrase the Claim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to say, what to avoid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4937760" cy="4526280"/>
          </a:xfrm>
          <a:prstGeom prst="roundRect">
            <a:avLst>
              <a:gd name="adj" fmla="val 1212"/>
            </a:avLst>
          </a:prstGeom>
          <a:solidFill>
            <a:srgbClr val="EEF8F1"/>
          </a:solidFill>
          <a:ln w="12700">
            <a:solidFill>
              <a:srgbClr val="CFE4D5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35331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Say This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4937760" cy="4526280"/>
          </a:xfrm>
          <a:prstGeom prst="roundRect">
            <a:avLst>
              <a:gd name="adj" fmla="val 1212"/>
            </a:avLst>
          </a:prstGeom>
          <a:solidFill>
            <a:srgbClr val="FFF3F0"/>
          </a:solidFill>
          <a:ln w="12700">
            <a:solidFill>
              <a:srgbClr val="E5C5BF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35331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4A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Avoid This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1691640"/>
            <a:ext cx="4434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Static phase-only D2NN improves absolute received power inside a 10 um focal bucket by 5.5–6.4% over the turbulent baseline.</a:t>
            </a:r>
            <a:endParaRPr lang="en-US" sz="1160" dirty="0"/>
          </a:p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successful regime is TP-preserving: throughput stays around 98% while RP rises.</a:t>
            </a:r>
            <a:endParaRPr lang="en-US" sz="1160" dirty="0"/>
          </a:p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mechanism is focal energy redistribution or statistical mode filtering, not sample-wise phase conjugation.</a:t>
            </a:r>
            <a:endParaRPr lang="en-US" sz="1160" dirty="0"/>
          </a:p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 loss is the simplest and strongest objective among tested TP-aware losses.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6601968" y="1691640"/>
            <a:ext cx="4434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 not call this wavefront recovery, vacuum restoration, or full aberration correction.</a:t>
            </a:r>
            <a:endParaRPr lang="en-US" sz="1160" dirty="0"/>
          </a:p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 not use PIB gain alone as evidence of better coupling.</a:t>
            </a:r>
            <a:endParaRPr lang="en-US" sz="1160" dirty="0"/>
          </a:p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 not imply that static masks adapt to random time-varying turbulence sample by sample.</a:t>
            </a:r>
            <a:endParaRPr lang="en-US" sz="1160" dirty="0"/>
          </a:p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 not hide throughput when comparing objective functions.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Claim wording aligned to 0404 conclusions and 0403 wavefront evidence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Seminar Takeaways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four numbers to remember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53619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ΔRP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87552" y="2029968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8A54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+6.37%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RP is best overall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1371600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153619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Operating TP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76472" y="2029968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5D8C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98.59%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76472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Successful losses stay near 98%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53619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 PIB10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2029968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5AB8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80.83%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65392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Still far below vacuum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1371600"/>
            <a:ext cx="21488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54312" y="15361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Remaining Gap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54312" y="2029968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4A46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15.15p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54312" y="27432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Static limit remains large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" y="4069080"/>
            <a:ext cx="10195560" cy="1280160"/>
          </a:xfrm>
          <a:prstGeom prst="roundRect">
            <a:avLst>
              <a:gd name="adj" fmla="val 4286"/>
            </a:avLst>
          </a:prstGeom>
          <a:solidFill>
            <a:srgbClr val="EAF3F8"/>
          </a:solidFill>
          <a:ln w="12700">
            <a:solidFill>
              <a:srgbClr val="C7DC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25880" y="4389120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Metric choice changes the ranking: PIB alone can invert the story.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TP-preserving losses converge to a modest but real +6% RP regime.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observed gain is compatible with energy redistribution, not wavefront correction.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large remaining gap to vacuum is itself a result: static phase-only D2NN has a structural ceiling here.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Summary numbers from 0403 summary JSON; interpretation from 0404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Next Experiments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to do after this seminar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2148840" cy="3291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72768" y="114300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1261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Seed robustness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603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rerun Raw RP and PIB+HardTP with multiple random seeds and quantify RP10 mean±std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127248" y="3337560"/>
            <a:ext cx="274320" cy="20116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828800"/>
            <a:ext cx="2148840" cy="3291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114300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261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Bucket sweep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22192" y="25603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evaluate 5, 10, 25 um objectives to map where core-vs-halo redistribution helps most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870448" y="3337560"/>
            <a:ext cx="274320" cy="20116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28800"/>
            <a:ext cx="2148840" cy="3291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59168" y="114300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1261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Stronger turbulence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65392" y="25603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increase Cn^2 or deeper fades to check whether the +6% attractor survives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613648" y="3337560"/>
            <a:ext cx="274320" cy="201168"/>
          </a:xfrm>
          <a:prstGeom prst="chevron">
            <a:avLst/>
          </a:prstGeom>
          <a:solidFill>
            <a:srgbClr val="5FA7C8"/>
          </a:solidFill>
          <a:ln w="12700">
            <a:solidFill>
              <a:srgbClr val="5FA7C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1828800"/>
            <a:ext cx="2148840" cy="3291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02368" y="1143000"/>
            <a:ext cx="822960" cy="420624"/>
          </a:xfrm>
          <a:prstGeom prst="roundRect">
            <a:avLst>
              <a:gd name="adj" fmla="val 10870"/>
            </a:avLst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12618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Step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Distance sweep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08592" y="25603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connect to run_distance_sweep_after_0404.sh and map where static gain collapses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Follow-up direction based on 0404 conclusions and existing distance-sweep script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Appendix: Detailed Reference Metrics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Q&amp;A backup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1099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143000"/>
                <a:gridCol w="1051560"/>
                <a:gridCol w="1234440"/>
                <a:gridCol w="12344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Case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PIB10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TP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RP10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RP5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RP25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RP50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Vacuum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95.98%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97.68%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277.17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268.18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287.11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288.77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Turbulent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77.11%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97.00%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212.04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132.37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269.81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275.00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AbsBucket+CO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80.52%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98.30%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224.28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145.31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274.48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278.55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PIB+HardTP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80.42%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98.92%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224.97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145.87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275.35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279.73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TP-PIB w=2.0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80.41%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98.93%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224.96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145.85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275.39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279.75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Raw RP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80.83%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98.59%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225.54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147.20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274.76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0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279.02</a:t>
                      </a:r>
                      <a:endParaRPr lang="en-US" sz="102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19_cross_strategy_summary.json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5D8C"/>
          </a:solidFill>
          <a:ln w="12700">
            <a:solidFill>
              <a:srgbClr val="275D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Appendix: Constraint Equivalence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two objectives, same operating point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</p:sp>
      <p:pic>
        <p:nvPicPr>
          <p:cNvPr id="6" name="Image 0" descr="/root/dj/D2NN/kim2026/autoresearch/runs/0403-combined-6strat-pitchrescale-cn2-5e14/pib_hard_tp/18_received_power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6500"/>
            <a:ext cx="5303520" cy="350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88720"/>
            <a:ext cx="530352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pic>
        <p:nvPicPr>
          <p:cNvPr id="8" name="Image 1" descr="/root/dj/D2NN/kim2026/autoresearch/runs/0403-combined-6strat-pitchrescale-cn2-5e14/focal_tp_pib_w2/18_received_power_histo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606500"/>
            <a:ext cx="5303520" cy="3507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99632" y="1188720"/>
            <a:ext cx="530352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331720" y="8961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PIB+HardTP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18120" y="896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D8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TP-PIB w=2.0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417320" y="5715000"/>
            <a:ext cx="9372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691640" y="5897880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0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두 objective는 TP ≈ 0.99 근방에서 사실상 같은 constraint force를 만들고, 그래서 histogram과 mean performance가 거의 겹친다.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502920" y="6446520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C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Figures: pib_hard_tp/18_received_power_histogram.png and focal_tp_pib_w2/18_received_power_histogram.png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D2NN for FSO: RP vs PIB Seminar</dc:title>
  <dc:subject>D2NN received-power seminar deck</dc:subject>
  <dc:creator>Codex</dc:creator>
  <cp:lastModifiedBy>Codex</cp:lastModifiedBy>
  <cp:revision>1</cp:revision>
  <dcterms:created xsi:type="dcterms:W3CDTF">2026-04-06T05:29:43Z</dcterms:created>
  <dcterms:modified xsi:type="dcterms:W3CDTF">2026-04-06T05:29:43Z</dcterms:modified>
</cp:coreProperties>
</file>